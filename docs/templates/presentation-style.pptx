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5" r:id="rId2"/>
    <p:sldId id="258" r:id="rId3"/>
    <p:sldId id="259" r:id="rId4"/>
    <p:sldId id="263" r:id="rId5"/>
    <p:sldId id="264" r:id="rId6"/>
    <p:sldId id="265" r:id="rId7"/>
    <p:sldId id="267" r:id="rId8"/>
    <p:sldId id="268" r:id="rId9"/>
    <p:sldId id="269" r:id="rId10"/>
    <p:sldId id="270" r:id="rId11"/>
    <p:sldId id="271" r:id="rId12"/>
    <p:sldId id="272" r:id="rId13"/>
    <p:sldId id="27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92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876"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g"/><Relationship Id="rId1" Type="http://schemas.openxmlformats.org/officeDocument/2006/relationships/slideLayout" Target="../slideLayouts/slideLayout7.xm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rcRect l="10342" r="10342" b="20000"/>
          <a:stretch>
            <a:fillRect/>
          </a:stretch>
        </p:blipFill>
        <p:spPr>
          <a:xfrm>
            <a:off x="0" y="0"/>
            <a:ext cx="12192000" cy="6858000"/>
          </a:xfrm>
          <a:prstGeom prst="rect">
            <a:avLst/>
          </a:prstGeom>
        </p:spPr>
      </p:pic>
      <p:sp>
        <p:nvSpPr>
          <p:cNvPr id="3" name="Rectangle 2"/>
          <p:cNvSpPr/>
          <p:nvPr/>
        </p:nvSpPr>
        <p:spPr>
          <a:xfrm>
            <a:off x="0" y="0"/>
            <a:ext cx="12192000" cy="6858000"/>
          </a:xfrm>
          <a:prstGeom prst="rect">
            <a:avLst/>
          </a:prstGeom>
          <a:solidFill>
            <a:srgbClr val="0E0C08">
              <a:alpha val="4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0" y="0"/>
            <a:ext cx="12192000" cy="6858000"/>
          </a:xfrm>
          <a:prstGeom prst="rect">
            <a:avLst/>
          </a:prstGeom>
        </p:spPr>
      </p:pic>
      <p:sp>
        <p:nvSpPr>
          <p:cNvPr id="5" name="TextBox 4"/>
          <p:cNvSpPr txBox="1"/>
          <p:nvPr/>
        </p:nvSpPr>
        <p:spPr>
          <a:xfrm>
            <a:off x="8119872" y="201168"/>
            <a:ext cx="3657600" cy="256032"/>
          </a:xfrm>
          <a:prstGeom prst="rect">
            <a:avLst/>
          </a:prstGeom>
          <a:noFill/>
        </p:spPr>
        <p:txBody>
          <a:bodyPr wrap="square" lIns="0" tIns="0" rIns="0" bIns="0" anchor="ctr">
            <a:spAutoFit/>
          </a:bodyPr>
          <a:lstStyle/>
          <a:p>
            <a:pPr algn="r">
              <a:lnSpc>
                <a:spcPct val="120000"/>
              </a:lnSpc>
            </a:pPr>
            <a:r>
              <a:rPr sz="950" b="0" i="0" spc="300">
                <a:solidFill>
                  <a:srgbClr val="9C947F"/>
                </a:solidFill>
                <a:latin typeface="Arial"/>
              </a:rPr>
              <a:t>ДЛЯ СЛУЖБОВОГО КОРИСТУВАННЯ</a:t>
            </a:r>
          </a:p>
        </p:txBody>
      </p:sp>
      <p:pic>
        <p:nvPicPr>
          <p:cNvPr id="6" name="Picture 5" descr="image.png"/>
          <p:cNvPicPr>
            <a:picLocks noChangeAspect="1"/>
          </p:cNvPicPr>
          <p:nvPr/>
        </p:nvPicPr>
        <p:blipFill>
          <a:blip r:embed="rId4"/>
          <a:stretch>
            <a:fillRect/>
          </a:stretch>
        </p:blipFill>
        <p:spPr>
          <a:xfrm>
            <a:off x="5500000" y="1055058"/>
            <a:ext cx="1200000" cy="1325967"/>
          </a:xfrm>
          <a:prstGeom prst="rect">
            <a:avLst/>
          </a:prstGeom>
        </p:spPr>
      </p:pic>
      <p:cxnSp>
        <p:nvCxnSpPr>
          <p:cNvPr id="8" name="Connector 7"/>
          <p:cNvCxnSpPr/>
          <p:nvPr/>
        </p:nvCxnSpPr>
        <p:spPr>
          <a:xfrm>
            <a:off x="960120" y="2468880"/>
            <a:ext cx="365760"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960120" y="2468880"/>
            <a:ext cx="0" cy="36576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0863072" y="2468880"/>
            <a:ext cx="365760"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228832" y="2468880"/>
            <a:ext cx="0" cy="36576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60120" y="4718304"/>
            <a:ext cx="365760"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60120" y="4352544"/>
            <a:ext cx="0" cy="36576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863072" y="4718304"/>
            <a:ext cx="365760"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228832" y="4352544"/>
            <a:ext cx="0" cy="36576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pic>
        <p:nvPicPr>
          <p:cNvPr id="16" name="Picture 3" descr="image.png">
            <a:extLst>
              <a:ext uri="{FF2B5EF4-FFF2-40B4-BE49-F238E27FC236}">
                <a16:creationId xmlns:a16="http://schemas.microsoft.com/office/drawing/2014/main" id="{66A63A08-8C28-0163-5BF8-82B83EC2EEE0}"/>
              </a:ext>
            </a:extLst>
          </p:cNvPr>
          <p:cNvPicPr>
            <a:picLocks noChangeAspect="1"/>
          </p:cNvPicPr>
          <p:nvPr/>
        </p:nvPicPr>
        <p:blipFill>
          <a:blip r:embed="rId5"/>
          <a:stretch>
            <a:fillRect/>
          </a:stretch>
        </p:blipFill>
        <p:spPr>
          <a:xfrm>
            <a:off x="-9145" y="0"/>
            <a:ext cx="12192000" cy="6858000"/>
          </a:xfrm>
          <a:prstGeom prst="rect">
            <a:avLst/>
          </a:prstGeom>
        </p:spPr>
      </p:pic>
      <p:sp>
        <p:nvSpPr>
          <p:cNvPr id="17" name="TextBox 16"/>
          <p:cNvSpPr txBox="1"/>
          <p:nvPr/>
        </p:nvSpPr>
        <p:spPr>
          <a:xfrm>
            <a:off x="1234440" y="3095557"/>
            <a:ext cx="9720072" cy="1069780"/>
          </a:xfrm>
          <a:prstGeom prst="rect">
            <a:avLst/>
          </a:prstGeom>
          <a:noFill/>
        </p:spPr>
        <p:txBody>
          <a:bodyPr wrap="square" lIns="0" tIns="0" rIns="0" bIns="0" anchor="ctr">
            <a:spAutoFit/>
          </a:bodyPr>
          <a:lstStyle/>
          <a:p>
            <a:pPr algn="ctr">
              <a:lnSpc>
                <a:spcPct val="110000"/>
              </a:lnSpc>
            </a:pPr>
            <a:r>
              <a:rPr lang="en-US" altLang="ru-RU" sz="1600" b="1" dirty="0">
                <a:solidFill>
                  <a:schemeClr val="bg1"/>
                </a:solidFill>
                <a:latin typeface="UAF Sans SemiBold"/>
              </a:rPr>
              <a:t>“</a:t>
            </a:r>
            <a:r>
              <a:rPr lang="uk-UA" altLang="ru-RU" sz="1600" b="1" dirty="0">
                <a:solidFill>
                  <a:schemeClr val="bg1"/>
                </a:solidFill>
                <a:latin typeface="UAF Sans SemiBold"/>
              </a:rPr>
              <a:t>Аналіз</a:t>
            </a:r>
            <a:r>
              <a:rPr lang="uk-UA" altLang="ru-RU" sz="1600" b="1" dirty="0">
                <a:solidFill>
                  <a:schemeClr val="bg1"/>
                </a:solidFill>
                <a:latin typeface="UAF Sans SemiBold"/>
                <a:ea typeface="UAF Sans" pitchFamily="2" charset="-52"/>
              </a:rPr>
              <a:t> </a:t>
            </a:r>
            <a:r>
              <a:rPr lang="uk-UA" altLang="ru-RU" sz="1600" b="1" dirty="0">
                <a:solidFill>
                  <a:schemeClr val="bg1"/>
                </a:solidFill>
                <a:latin typeface="UAF Sans SemiBold"/>
              </a:rPr>
              <a:t>досвіду успішного виконання завдання підрозділом за результатом ведення бою (бойових дій). Особливості, які вплинули на досягнення найкращого результату (обраний спосіб дій, застосування тактичних прийомів тощо). Рекомендації для поширення найкращої практики для підвищення ефективності виконання бойових завдань</a:t>
            </a:r>
            <a:r>
              <a:rPr lang="en-US" altLang="ru-RU" sz="1600" b="1" dirty="0">
                <a:solidFill>
                  <a:schemeClr val="bg1"/>
                </a:solidFill>
                <a:latin typeface="UAF Sans SemiBold"/>
              </a:rPr>
              <a:t>”.</a:t>
            </a:r>
            <a:endParaRPr sz="1600" b="1" dirty="0">
              <a:solidFill>
                <a:schemeClr val="bg1"/>
              </a:solidFill>
              <a:latin typeface="UAF Sans SemiBold"/>
            </a:endParaRPr>
          </a:p>
        </p:txBody>
      </p:sp>
      <p:sp>
        <p:nvSpPr>
          <p:cNvPr id="22" name="Rectangle 5">
            <a:extLst>
              <a:ext uri="{FF2B5EF4-FFF2-40B4-BE49-F238E27FC236}">
                <a16:creationId xmlns:a16="http://schemas.microsoft.com/office/drawing/2014/main" id="{04604055-BFF3-9EF4-82F3-636A9C65E8F3}"/>
              </a:ext>
            </a:extLst>
          </p:cNvPr>
          <p:cNvSpPr>
            <a:spLocks noChangeArrowheads="1"/>
          </p:cNvSpPr>
          <p:nvPr/>
        </p:nvSpPr>
        <p:spPr bwMode="auto">
          <a:xfrm>
            <a:off x="2070163" y="576015"/>
            <a:ext cx="8048625" cy="316968"/>
          </a:xfrm>
          <a:prstGeom prst="rect">
            <a:avLst/>
          </a:prstGeom>
          <a:noFill/>
          <a:ln w="9525">
            <a:noFill/>
            <a:miter lim="800000"/>
            <a:headEnd/>
            <a:tailEnd/>
          </a:ln>
        </p:spPr>
        <p:txBody>
          <a:bodyPr lIns="76016" tIns="38010" rIns="76016" bIns="38010" anchor="ctr"/>
          <a:lstStyle/>
          <a:p>
            <a:pPr algn="ctr">
              <a:lnSpc>
                <a:spcPct val="80000"/>
              </a:lnSpc>
              <a:spcBef>
                <a:spcPct val="50000"/>
              </a:spcBef>
              <a:spcAft>
                <a:spcPct val="60000"/>
              </a:spcAft>
            </a:pPr>
            <a:r>
              <a:rPr lang="uk-UA" altLang="uk-UA" sz="2000" dirty="0">
                <a:solidFill>
                  <a:srgbClr val="F39200"/>
                </a:solidFill>
                <a:latin typeface="UAF Sans" pitchFamily="2" charset="-52"/>
                <a:ea typeface="UAF Sans" pitchFamily="2" charset="-52"/>
              </a:rPr>
              <a:t>УГРУПОВАННЯ ВІЙСЬК (СИЛ) “ПІВДЕНЬ” </a:t>
            </a:r>
          </a:p>
        </p:txBody>
      </p:sp>
      <p:sp>
        <p:nvSpPr>
          <p:cNvPr id="24" name="TextBox 23">
            <a:extLst>
              <a:ext uri="{FF2B5EF4-FFF2-40B4-BE49-F238E27FC236}">
                <a16:creationId xmlns:a16="http://schemas.microsoft.com/office/drawing/2014/main" id="{63463BCE-34C1-5AE2-EBB1-70EE9438E660}"/>
              </a:ext>
            </a:extLst>
          </p:cNvPr>
          <p:cNvSpPr txBox="1"/>
          <p:nvPr/>
        </p:nvSpPr>
        <p:spPr>
          <a:xfrm>
            <a:off x="4370460" y="5758186"/>
            <a:ext cx="3813791" cy="584775"/>
          </a:xfrm>
          <a:prstGeom prst="rect">
            <a:avLst/>
          </a:prstGeom>
          <a:noFill/>
        </p:spPr>
        <p:txBody>
          <a:bodyPr wrap="square" rtlCol="0">
            <a:spAutoFit/>
          </a:bodyPr>
          <a:lstStyle/>
          <a:p>
            <a:pPr algn="ctr"/>
            <a:r>
              <a:rPr lang="uk-UA" sz="1600" b="1" dirty="0">
                <a:solidFill>
                  <a:srgbClr val="F39200"/>
                </a:solidFill>
                <a:latin typeface="UAF Sans SemiBold"/>
                <a:ea typeface="UAF Sans" pitchFamily="2" charset="-52"/>
              </a:rPr>
              <a:t>Угруповання військ (сил)</a:t>
            </a:r>
            <a:br>
              <a:rPr lang="uk-UA" sz="1600" b="1" dirty="0">
                <a:solidFill>
                  <a:srgbClr val="F39200"/>
                </a:solidFill>
                <a:latin typeface="UAF Sans SemiBold"/>
                <a:ea typeface="UAF Sans" pitchFamily="2" charset="-52"/>
              </a:rPr>
            </a:br>
            <a:r>
              <a:rPr lang="en-US" sz="1600" b="1" dirty="0">
                <a:solidFill>
                  <a:srgbClr val="F39200"/>
                </a:solidFill>
                <a:latin typeface="UAF Sans SemiBold"/>
                <a:ea typeface="UAF Sans" pitchFamily="2" charset="-52"/>
              </a:rPr>
              <a:t>“</a:t>
            </a:r>
            <a:r>
              <a:rPr lang="uk-UA" sz="1600" b="1" dirty="0">
                <a:solidFill>
                  <a:srgbClr val="F39200"/>
                </a:solidFill>
                <a:latin typeface="UAF Sans SemiBold"/>
                <a:ea typeface="UAF Sans" pitchFamily="2" charset="-52"/>
              </a:rPr>
              <a:t>Південь</a:t>
            </a:r>
            <a:r>
              <a:rPr lang="en-US" sz="1600" b="1" dirty="0">
                <a:solidFill>
                  <a:srgbClr val="F39200"/>
                </a:solidFill>
                <a:latin typeface="UAF Sans SemiBold"/>
                <a:ea typeface="UAF Sans" pitchFamily="2" charset="-52"/>
              </a:rPr>
              <a:t>”</a:t>
            </a:r>
            <a:endParaRPr lang="uk-UA" sz="1600" b="1" dirty="0">
              <a:solidFill>
                <a:srgbClr val="F39200"/>
              </a:solidFill>
              <a:latin typeface="UAF Sans SemiBold"/>
              <a:ea typeface="UAF Sans" pitchFamily="2" charset="-5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rcRect t="18000" r="20684" b="2000"/>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0" y="0"/>
            <a:ext cx="12192000" cy="6858000"/>
          </a:xfrm>
          <a:prstGeom prst="rect">
            <a:avLst/>
          </a:prstGeom>
        </p:spPr>
      </p:pic>
      <p:sp>
        <p:nvSpPr>
          <p:cNvPr id="5" name="TextBox 4"/>
          <p:cNvSpPr txBox="1"/>
          <p:nvPr/>
        </p:nvSpPr>
        <p:spPr>
          <a:xfrm>
            <a:off x="502920" y="300000"/>
            <a:ext cx="4572000" cy="1700000"/>
          </a:xfrm>
          <a:prstGeom prst="rect">
            <a:avLst/>
          </a:prstGeom>
          <a:noFill/>
        </p:spPr>
        <p:txBody>
          <a:bodyPr wrap="square" lIns="0" tIns="0" rIns="0" bIns="0" anchor="t">
            <a:spAutoFit/>
          </a:bodyPr>
          <a:lstStyle/>
          <a:p>
            <a:pPr algn="l">
              <a:lnSpc>
                <a:spcPct val="100000"/>
              </a:lnSpc>
            </a:pPr>
            <a:r>
              <a:rPr lang="uk-UA" sz="12000" b="1" i="0" noProof="0" dirty="0">
                <a:solidFill>
                  <a:srgbClr val="3A3527"/>
                </a:solidFill>
                <a:latin typeface="UAF Sans"/>
              </a:rPr>
              <a:t>01</a:t>
            </a:r>
          </a:p>
        </p:txBody>
      </p:sp>
      <p:cxnSp>
        <p:nvCxnSpPr>
          <p:cNvPr id="6" name="Connector 5"/>
          <p:cNvCxnSpPr/>
          <p:nvPr/>
        </p:nvCxnSpPr>
        <p:spPr>
          <a:xfrm>
            <a:off x="822960" y="239572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22960" y="2395728"/>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168895" y="239572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79" y="2395728"/>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 y="449884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 y="4169664"/>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168895" y="449884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79" y="4169664"/>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70432" y="2615184"/>
            <a:ext cx="5943600" cy="224036"/>
          </a:xfrm>
          <a:prstGeom prst="rect">
            <a:avLst/>
          </a:prstGeom>
          <a:noFill/>
        </p:spPr>
        <p:txBody>
          <a:bodyPr wrap="square" lIns="0" tIns="0" rIns="0" bIns="0" anchor="t">
            <a:spAutoFit/>
          </a:bodyPr>
          <a:lstStyle/>
          <a:p>
            <a:pPr algn="l">
              <a:lnSpc>
                <a:spcPct val="120000"/>
              </a:lnSpc>
            </a:pPr>
            <a:r>
              <a:rPr lang="uk-UA" sz="1300" b="0" i="0" spc="320" noProof="0" dirty="0">
                <a:solidFill>
                  <a:srgbClr val="F39200"/>
                </a:solidFill>
                <a:latin typeface="UAF Sans SemiBold"/>
              </a:rPr>
              <a:t>ПИТАННЯ I</a:t>
            </a:r>
          </a:p>
        </p:txBody>
      </p:sp>
      <p:sp>
        <p:nvSpPr>
          <p:cNvPr id="15" name="TextBox 14"/>
          <p:cNvSpPr txBox="1"/>
          <p:nvPr/>
        </p:nvSpPr>
        <p:spPr>
          <a:xfrm>
            <a:off x="1170432" y="3116087"/>
            <a:ext cx="5943600" cy="863570"/>
          </a:xfrm>
          <a:prstGeom prst="rect">
            <a:avLst/>
          </a:prstGeom>
          <a:noFill/>
        </p:spPr>
        <p:txBody>
          <a:bodyPr wrap="square" lIns="0" tIns="0" rIns="0" bIns="0" anchor="ctr">
            <a:spAutoFit/>
          </a:bodyPr>
          <a:lstStyle/>
          <a:p>
            <a:pPr algn="l">
              <a:lnSpc>
                <a:spcPct val="110000"/>
              </a:lnSpc>
            </a:pPr>
            <a:r>
              <a:rPr lang="uk-UA" sz="2600" b="1" i="0" spc="80" noProof="0" dirty="0">
                <a:solidFill>
                  <a:srgbClr val="F7F5F0"/>
                </a:solidFill>
                <a:latin typeface="UAF Sans"/>
              </a:rPr>
              <a:t>АНАЛІЗ ДОСВІДУ</a:t>
            </a:r>
          </a:p>
          <a:p>
            <a:pPr algn="l">
              <a:lnSpc>
                <a:spcPct val="110000"/>
              </a:lnSpc>
              <a:spcBef>
                <a:spcPts val="0"/>
              </a:spcBef>
            </a:pPr>
            <a:r>
              <a:rPr lang="uk-UA" sz="2600" b="1" i="0" spc="80" noProof="0" dirty="0">
                <a:solidFill>
                  <a:srgbClr val="F7F5F0"/>
                </a:solidFill>
                <a:latin typeface="UAF Sans"/>
              </a:rPr>
              <a:t>ВИКОНАННЯ ЗАВДАНЬ 131 ОРБ</a:t>
            </a:r>
          </a:p>
        </p:txBody>
      </p:sp>
      <p:cxnSp>
        <p:nvCxnSpPr>
          <p:cNvPr id="17" name="Connector 16"/>
          <p:cNvCxnSpPr/>
          <p:nvPr/>
        </p:nvCxnSpPr>
        <p:spPr>
          <a:xfrm>
            <a:off x="7818120" y="1481328"/>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18120" y="1481328"/>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440040" y="1481328"/>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50936" y="1481328"/>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18120" y="5376672"/>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18120" y="5065776"/>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440040" y="5376672"/>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750936" y="5065776"/>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893384" y="6500837"/>
            <a:ext cx="5000000" cy="165686"/>
          </a:xfrm>
          <a:prstGeom prst="rect">
            <a:avLst/>
          </a:prstGeom>
          <a:noFill/>
        </p:spPr>
        <p:txBody>
          <a:bodyPr wrap="square" lIns="0" tIns="0" rIns="0" bIns="0" anchor="ctr">
            <a:spAutoFit/>
          </a:bodyPr>
          <a:lstStyle/>
          <a:p>
            <a:pPr algn="l">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ХАРАКТЕР ДІЙ ПРОТИВНИКА</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Тактика інфільтрації малих штурмових груп у глибину оборони Сил оборони</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noProof="0" dirty="0">
                <a:solidFill>
                  <a:srgbClr val="F39200"/>
                </a:solidFill>
                <a:latin typeface="UAF Sans"/>
              </a:rPr>
              <a:t>3</a:t>
            </a:r>
            <a:endParaRPr lang="uk-UA" sz="2200" b="1" i="0" noProof="0" dirty="0">
              <a:solidFill>
                <a:srgbClr val="F39200"/>
              </a:solidFill>
              <a:latin typeface="UAF Sans"/>
            </a:endParaRPr>
          </a:p>
        </p:txBody>
      </p:sp>
      <p:sp>
        <p:nvSpPr>
          <p:cNvPr id="9" name="TextBox 8"/>
          <p:cNvSpPr txBox="1"/>
          <p:nvPr/>
        </p:nvSpPr>
        <p:spPr>
          <a:xfrm>
            <a:off x="411480" y="1481328"/>
            <a:ext cx="3840480" cy="206851"/>
          </a:xfrm>
          <a:prstGeom prst="rect">
            <a:avLst/>
          </a:prstGeom>
          <a:noFill/>
        </p:spPr>
        <p:txBody>
          <a:bodyPr wrap="square" lIns="0" tIns="0" rIns="0" bIns="0" anchor="t">
            <a:spAutoFit/>
          </a:bodyPr>
          <a:lstStyle/>
          <a:p>
            <a:pPr algn="l">
              <a:lnSpc>
                <a:spcPct val="120000"/>
              </a:lnSpc>
            </a:pPr>
            <a:r>
              <a:rPr lang="uk-UA" sz="1200" b="1" i="0" spc="200" noProof="0" dirty="0">
                <a:solidFill>
                  <a:srgbClr val="F39200"/>
                </a:solidFill>
                <a:latin typeface="UAF Sans SemiBold"/>
              </a:rPr>
              <a:t>ПРОТИВНИК</a:t>
            </a:r>
          </a:p>
        </p:txBody>
      </p:sp>
      <p:sp>
        <p:nvSpPr>
          <p:cNvPr id="10" name="TextBox 9"/>
          <p:cNvSpPr txBox="1"/>
          <p:nvPr/>
        </p:nvSpPr>
        <p:spPr>
          <a:xfrm>
            <a:off x="411480" y="1856232"/>
            <a:ext cx="3840480" cy="3891835"/>
          </a:xfrm>
          <a:prstGeom prst="rect">
            <a:avLst/>
          </a:prstGeom>
          <a:noFill/>
        </p:spPr>
        <p:txBody>
          <a:bodyPr wrap="square" lIns="0" tIns="0" rIns="0" bIns="0" anchor="t">
            <a:spAutoFit/>
          </a:bodyPr>
          <a:lstStyle/>
          <a:p>
            <a:pPr marL="180975" indent="-180975" algn="l">
              <a:lnSpc>
                <a:spcPct val="130000"/>
              </a:lnSpc>
            </a:pPr>
            <a:r>
              <a:rPr lang="uk-UA" sz="1200" b="0" i="0" noProof="0" dirty="0">
                <a:solidFill>
                  <a:srgbClr val="F39200"/>
                </a:solidFill>
                <a:latin typeface="UAF Sans SemiBold"/>
              </a:rPr>
              <a:t>1.</a:t>
            </a:r>
            <a:r>
              <a:rPr lang="uk-UA" sz="1200" b="0" i="0" noProof="0" dirty="0">
                <a:solidFill>
                  <a:srgbClr val="F7F5F0"/>
                </a:solidFill>
                <a:latin typeface="UAF Sans"/>
              </a:rPr>
              <a:t>  </a:t>
            </a:r>
            <a:r>
              <a:rPr lang="uk-UA" sz="1200" b="0" i="0" noProof="0" dirty="0">
                <a:solidFill>
                  <a:schemeClr val="tx2">
                    <a:lumMod val="20000"/>
                    <a:lumOff val="80000"/>
                  </a:schemeClr>
                </a:solidFill>
                <a:latin typeface="UAF Sans"/>
              </a:rPr>
              <a:t>Здійснював просочування малих груп </a:t>
            </a:r>
            <a:r>
              <a:rPr lang="uk-UA" sz="1200" b="0" i="0" noProof="0" dirty="0">
                <a:solidFill>
                  <a:srgbClr val="F7F5F0"/>
                </a:solidFill>
                <a:latin typeface="UAF Sans"/>
              </a:rPr>
              <a:t>(1–2 в/с, рідше 3–4 в/с) вздовж лісосмуг, балок, ярів, у </a:t>
            </a:r>
            <a:r>
              <a:rPr lang="uk-UA" sz="1200" b="0" i="0" noProof="0" dirty="0" err="1">
                <a:solidFill>
                  <a:srgbClr val="F7F5F0"/>
                </a:solidFill>
                <a:latin typeface="UAF Sans"/>
              </a:rPr>
              <a:t>т.ч</a:t>
            </a:r>
            <a:r>
              <a:rPr lang="uk-UA" sz="1200" b="0" i="0" noProof="0" dirty="0">
                <a:solidFill>
                  <a:srgbClr val="F7F5F0"/>
                </a:solidFill>
                <a:latin typeface="UAF Sans"/>
              </a:rPr>
              <a:t>. на </a:t>
            </a:r>
            <a:r>
              <a:rPr lang="uk-UA" sz="1200" b="0" i="0" noProof="0" dirty="0" err="1">
                <a:solidFill>
                  <a:srgbClr val="F7F5F0"/>
                </a:solidFill>
                <a:latin typeface="UAF Sans"/>
              </a:rPr>
              <a:t>мототехніці</a:t>
            </a:r>
            <a:r>
              <a:rPr lang="uk-UA" sz="1200" b="0" i="0" noProof="0" dirty="0">
                <a:solidFill>
                  <a:srgbClr val="F7F5F0"/>
                </a:solidFill>
                <a:latin typeface="UAF Sans"/>
              </a:rPr>
              <a:t>.</a:t>
            </a:r>
          </a:p>
          <a:p>
            <a:pPr marL="180975" indent="-180975" algn="l">
              <a:lnSpc>
                <a:spcPct val="130000"/>
              </a:lnSpc>
              <a:spcBef>
                <a:spcPts val="600"/>
              </a:spcBef>
            </a:pPr>
            <a:r>
              <a:rPr lang="uk-UA" sz="1200" b="0" i="0" noProof="0" dirty="0">
                <a:solidFill>
                  <a:srgbClr val="F39200"/>
                </a:solidFill>
                <a:latin typeface="UAF Sans SemiBold"/>
              </a:rPr>
              <a:t>2.</a:t>
            </a:r>
            <a:r>
              <a:rPr lang="uk-UA" sz="1200" b="0" i="0" noProof="0" dirty="0">
                <a:solidFill>
                  <a:srgbClr val="F7F5F0"/>
                </a:solidFill>
                <a:latin typeface="UAF Sans"/>
              </a:rPr>
              <a:t>  </a:t>
            </a:r>
            <a:r>
              <a:rPr lang="uk-UA" sz="1200" b="0" i="0" noProof="0" dirty="0" err="1">
                <a:solidFill>
                  <a:schemeClr val="tx2">
                    <a:lumMod val="20000"/>
                    <a:lumOff val="80000"/>
                  </a:schemeClr>
                </a:solidFill>
                <a:latin typeface="UAF Sans"/>
              </a:rPr>
              <a:t>Використовав</a:t>
            </a:r>
            <a:r>
              <a:rPr lang="uk-UA" sz="1200" b="0" i="0" noProof="0" dirty="0">
                <a:solidFill>
                  <a:schemeClr val="tx2">
                    <a:lumMod val="20000"/>
                    <a:lumOff val="80000"/>
                  </a:schemeClr>
                </a:solidFill>
                <a:latin typeface="UAF Sans"/>
              </a:rPr>
              <a:t> розвідані маршрути</a:t>
            </a:r>
            <a:r>
              <a:rPr lang="uk-UA" sz="1200" b="0" i="0" noProof="0" dirty="0">
                <a:solidFill>
                  <a:srgbClr val="F7F5F0"/>
                </a:solidFill>
                <a:latin typeface="UAF Sans"/>
              </a:rPr>
              <a:t>, уникає бойових зіткнень, переміщення коригує засобами </a:t>
            </a:r>
            <a:r>
              <a:rPr lang="uk-UA" sz="1200" b="0" i="0" noProof="0" dirty="0" err="1">
                <a:solidFill>
                  <a:srgbClr val="F7F5F0"/>
                </a:solidFill>
                <a:latin typeface="UAF Sans"/>
              </a:rPr>
              <a:t>БпЛА</a:t>
            </a:r>
            <a:r>
              <a:rPr lang="uk-UA" sz="1200" b="0" i="0" noProof="0" dirty="0">
                <a:solidFill>
                  <a:srgbClr val="F7F5F0"/>
                </a:solidFill>
                <a:latin typeface="UAF Sans"/>
              </a:rPr>
              <a:t>.</a:t>
            </a:r>
          </a:p>
          <a:p>
            <a:pPr marL="180975" indent="-180975" algn="l">
              <a:lnSpc>
                <a:spcPct val="130000"/>
              </a:lnSpc>
              <a:spcBef>
                <a:spcPts val="600"/>
              </a:spcBef>
            </a:pPr>
            <a:r>
              <a:rPr lang="uk-UA" sz="1200" b="0" i="0" noProof="0" dirty="0">
                <a:solidFill>
                  <a:srgbClr val="F39200"/>
                </a:solidFill>
                <a:latin typeface="UAF Sans SemiBold"/>
              </a:rPr>
              <a:t>3.</a:t>
            </a:r>
            <a:r>
              <a:rPr lang="uk-UA" sz="1200" b="0" i="0" noProof="0" dirty="0">
                <a:solidFill>
                  <a:srgbClr val="F7F5F0"/>
                </a:solidFill>
                <a:latin typeface="UAF Sans"/>
              </a:rPr>
              <a:t>  </a:t>
            </a:r>
            <a:r>
              <a:rPr lang="uk-UA" sz="1200" b="0" i="0" noProof="0" dirty="0">
                <a:solidFill>
                  <a:schemeClr val="tx2">
                    <a:lumMod val="20000"/>
                    <a:lumOff val="80000"/>
                  </a:schemeClr>
                </a:solidFill>
                <a:latin typeface="UAF Sans"/>
              </a:rPr>
              <a:t>Застосовав </a:t>
            </a:r>
            <a:r>
              <a:rPr lang="uk-UA" sz="1200" b="0" i="0" noProof="0" dirty="0" err="1">
                <a:solidFill>
                  <a:schemeClr val="tx2">
                    <a:lumMod val="20000"/>
                    <a:lumOff val="80000"/>
                  </a:schemeClr>
                </a:solidFill>
                <a:latin typeface="UAF Sans"/>
              </a:rPr>
              <a:t>протитепловізійні</a:t>
            </a:r>
            <a:r>
              <a:rPr lang="uk-UA" sz="1200" b="0" i="0" noProof="0" dirty="0">
                <a:solidFill>
                  <a:schemeClr val="tx2">
                    <a:lumMod val="20000"/>
                    <a:lumOff val="80000"/>
                  </a:schemeClr>
                </a:solidFill>
                <a:latin typeface="UAF Sans"/>
              </a:rPr>
              <a:t> плащі </a:t>
            </a:r>
            <a:r>
              <a:rPr lang="uk-UA" sz="1200" b="0" i="0" noProof="0" dirty="0">
                <a:solidFill>
                  <a:srgbClr val="F7F5F0"/>
                </a:solidFill>
                <a:latin typeface="UAF Sans"/>
              </a:rPr>
              <a:t>(ковдри), переміщується в несприятливих погодних умовах.</a:t>
            </a:r>
          </a:p>
          <a:p>
            <a:pPr marL="180975" indent="-180975" algn="l">
              <a:lnSpc>
                <a:spcPct val="130000"/>
              </a:lnSpc>
              <a:spcBef>
                <a:spcPts val="600"/>
              </a:spcBef>
            </a:pPr>
            <a:r>
              <a:rPr lang="uk-UA" sz="1200" b="0" i="0" noProof="0" dirty="0">
                <a:solidFill>
                  <a:srgbClr val="F39200"/>
                </a:solidFill>
                <a:latin typeface="UAF Sans SemiBold"/>
              </a:rPr>
              <a:t>4.</a:t>
            </a:r>
            <a:r>
              <a:rPr lang="uk-UA" sz="1200" b="0" i="0" noProof="0" dirty="0">
                <a:solidFill>
                  <a:srgbClr val="F7F5F0"/>
                </a:solidFill>
                <a:latin typeface="UAF Sans"/>
              </a:rPr>
              <a:t>  </a:t>
            </a:r>
            <a:r>
              <a:rPr lang="uk-UA" sz="1200" b="0" i="0" noProof="0" dirty="0">
                <a:solidFill>
                  <a:schemeClr val="tx2">
                    <a:lumMod val="20000"/>
                    <a:lumOff val="80000"/>
                  </a:schemeClr>
                </a:solidFill>
                <a:latin typeface="UAF Sans"/>
              </a:rPr>
              <a:t>Після інфільтрації закріпився</a:t>
            </a:r>
            <a:r>
              <a:rPr lang="uk-UA" sz="1200" b="0" i="0" noProof="0" dirty="0">
                <a:solidFill>
                  <a:srgbClr val="F7F5F0"/>
                </a:solidFill>
                <a:latin typeface="UAF Sans"/>
              </a:rPr>
              <a:t>, обладнував позиції, коригує вогонь артилерії та ударних </a:t>
            </a:r>
            <a:r>
              <a:rPr lang="uk-UA" sz="1200" b="0" i="0" noProof="0" dirty="0" err="1">
                <a:solidFill>
                  <a:srgbClr val="F7F5F0"/>
                </a:solidFill>
                <a:latin typeface="UAF Sans"/>
              </a:rPr>
              <a:t>БпС</a:t>
            </a:r>
            <a:r>
              <a:rPr lang="uk-UA" sz="1200" b="0" i="0" noProof="0" dirty="0">
                <a:solidFill>
                  <a:srgbClr val="F7F5F0"/>
                </a:solidFill>
                <a:latin typeface="UAF Sans"/>
              </a:rPr>
              <a:t>.</a:t>
            </a:r>
          </a:p>
          <a:p>
            <a:pPr marL="180975" indent="-180975" algn="l">
              <a:lnSpc>
                <a:spcPct val="130000"/>
              </a:lnSpc>
              <a:spcBef>
                <a:spcPts val="600"/>
              </a:spcBef>
            </a:pPr>
            <a:r>
              <a:rPr lang="uk-UA" sz="1200" b="0" i="0" noProof="0" dirty="0">
                <a:solidFill>
                  <a:srgbClr val="F39200"/>
                </a:solidFill>
                <a:latin typeface="UAF Sans SemiBold"/>
              </a:rPr>
              <a:t>5.</a:t>
            </a:r>
            <a:r>
              <a:rPr lang="uk-UA" sz="1200" b="0" i="0" noProof="0" dirty="0">
                <a:solidFill>
                  <a:srgbClr val="F7F5F0"/>
                </a:solidFill>
                <a:latin typeface="UAF Sans"/>
              </a:rPr>
              <a:t>  </a:t>
            </a:r>
            <a:r>
              <a:rPr lang="uk-UA" sz="1200" b="0" i="0" noProof="0" dirty="0" err="1">
                <a:solidFill>
                  <a:schemeClr val="tx2">
                    <a:lumMod val="20000"/>
                    <a:lumOff val="80000"/>
                  </a:schemeClr>
                </a:solidFill>
                <a:latin typeface="UAF Sans"/>
              </a:rPr>
              <a:t>Здійсн</a:t>
            </a:r>
            <a:r>
              <a:rPr lang="uk-UA" sz="1200" dirty="0" err="1">
                <a:solidFill>
                  <a:schemeClr val="tx2">
                    <a:lumMod val="20000"/>
                    <a:lumOff val="80000"/>
                  </a:schemeClr>
                </a:solidFill>
                <a:latin typeface="UAF Sans"/>
              </a:rPr>
              <a:t>ював</a:t>
            </a:r>
            <a:r>
              <a:rPr lang="uk-UA" sz="1200" b="0" i="0" noProof="0" dirty="0">
                <a:solidFill>
                  <a:schemeClr val="tx2">
                    <a:lumMod val="20000"/>
                    <a:lumOff val="80000"/>
                  </a:schemeClr>
                </a:solidFill>
                <a:latin typeface="UAF Sans"/>
              </a:rPr>
              <a:t> контроль логістичних маршрутів </a:t>
            </a:r>
            <a:r>
              <a:rPr lang="uk-UA" sz="1200" b="0" i="0" noProof="0" dirty="0">
                <a:solidFill>
                  <a:srgbClr val="F7F5F0"/>
                </a:solidFill>
                <a:latin typeface="UAF Sans"/>
              </a:rPr>
              <a:t>СОУ: мінування (міни, СВП), виставлення FPV-</a:t>
            </a:r>
            <a:r>
              <a:rPr lang="uk-UA" sz="1200" b="0" i="0" noProof="0" dirty="0" err="1">
                <a:solidFill>
                  <a:srgbClr val="F7F5F0"/>
                </a:solidFill>
                <a:latin typeface="UAF Sans"/>
              </a:rPr>
              <a:t>БпЛА</a:t>
            </a:r>
            <a:r>
              <a:rPr lang="uk-UA" sz="1200" b="0" i="0" noProof="0" dirty="0">
                <a:solidFill>
                  <a:srgbClr val="F7F5F0"/>
                </a:solidFill>
                <a:latin typeface="UAF Sans"/>
              </a:rPr>
              <a:t> в засідці.</a:t>
            </a:r>
          </a:p>
        </p:txBody>
      </p:sp>
      <p:sp>
        <p:nvSpPr>
          <p:cNvPr id="14" name="Rectangle 13"/>
          <p:cNvSpPr/>
          <p:nvPr/>
        </p:nvSpPr>
        <p:spPr>
          <a:xfrm>
            <a:off x="4663440" y="1481328"/>
            <a:ext cx="7117080" cy="4468672"/>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6" name="Connector 15"/>
          <p:cNvCxnSpPr/>
          <p:nvPr/>
        </p:nvCxnSpPr>
        <p:spPr>
          <a:xfrm>
            <a:off x="466344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6344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43360" y="595000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780520" y="581284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63440" y="6040000"/>
            <a:ext cx="7517080" cy="144591"/>
          </a:xfrm>
          <a:prstGeom prst="rect">
            <a:avLst/>
          </a:prstGeom>
          <a:noFill/>
        </p:spPr>
        <p:txBody>
          <a:bodyPr wrap="square" lIns="0" tIns="0" rIns="0" bIns="0" anchor="t">
            <a:spAutoFit/>
          </a:bodyPr>
          <a:lstStyle/>
          <a:p>
            <a:pPr algn="ctr">
              <a:lnSpc>
                <a:spcPct val="118000"/>
              </a:lnSpc>
            </a:pPr>
            <a:r>
              <a:rPr lang="uk-UA" sz="850" b="0" i="0" spc="120" noProof="0" dirty="0">
                <a:solidFill>
                  <a:srgbClr val="A8A08A"/>
                </a:solidFill>
                <a:latin typeface="UAF Sans SemiBold"/>
              </a:rPr>
              <a:t>РАЙОНИ ПЕРЕБУВАННЯ ШГР 70 МСП 42 МСД ПОБЛИЗУ Н.П. ТЕРНУВАТЕ СТАНОМ НА 23.07.2026</a:t>
            </a:r>
          </a:p>
        </p:txBody>
      </p:sp>
      <p:sp>
        <p:nvSpPr>
          <p:cNvPr id="21" name="TextBox 20"/>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pic>
        <p:nvPicPr>
          <p:cNvPr id="12" name="Picture 31" descr="image.jpg">
            <a:extLst>
              <a:ext uri="{FF2B5EF4-FFF2-40B4-BE49-F238E27FC236}">
                <a16:creationId xmlns:a16="http://schemas.microsoft.com/office/drawing/2014/main" id="{EA887FF8-5783-73C9-77FE-05C2D8F6CB11}"/>
              </a:ext>
            </a:extLst>
          </p:cNvPr>
          <p:cNvPicPr>
            <a:picLocks noChangeAspect="1"/>
          </p:cNvPicPr>
          <p:nvPr/>
        </p:nvPicPr>
        <p:blipFill>
          <a:blip r:embed="rId4"/>
          <a:stretch>
            <a:fillRect/>
          </a:stretch>
        </p:blipFill>
        <p:spPr>
          <a:xfrm>
            <a:off x="5029201" y="1618488"/>
            <a:ext cx="6575497" cy="42020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ТЕРНУВАТЕ: ЗАВДАННЯ, СИЛИ ТА ЗАСОБИ</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РЗ №2 та РСР 131 ОРБ, смуга оборони 142 ОМБР 7 КШР, період 16.08–04.09.2026</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noProof="0" dirty="0">
                <a:solidFill>
                  <a:srgbClr val="F39200"/>
                </a:solidFill>
                <a:latin typeface="UAF Sans"/>
              </a:rPr>
              <a:t>4</a:t>
            </a:r>
            <a:endParaRPr lang="uk-UA" sz="2200" b="1" i="0" noProof="0" dirty="0">
              <a:solidFill>
                <a:srgbClr val="F39200"/>
              </a:solidFill>
              <a:latin typeface="UAF Sans"/>
            </a:endParaRPr>
          </a:p>
        </p:txBody>
      </p:sp>
      <p:sp>
        <p:nvSpPr>
          <p:cNvPr id="9" name="TextBox 8"/>
          <p:cNvSpPr txBox="1"/>
          <p:nvPr/>
        </p:nvSpPr>
        <p:spPr>
          <a:xfrm>
            <a:off x="411480" y="1481328"/>
            <a:ext cx="3840480" cy="189604"/>
          </a:xfrm>
          <a:prstGeom prst="rect">
            <a:avLst/>
          </a:prstGeom>
          <a:noFill/>
        </p:spPr>
        <p:txBody>
          <a:bodyPr wrap="square" lIns="0" tIns="0" rIns="0" bIns="0" anchor="t">
            <a:spAutoFit/>
          </a:bodyPr>
          <a:lstStyle/>
          <a:p>
            <a:pPr algn="l">
              <a:lnSpc>
                <a:spcPct val="120000"/>
              </a:lnSpc>
            </a:pPr>
            <a:r>
              <a:rPr lang="uk-UA" sz="1100" b="1" i="0" spc="200" noProof="0" dirty="0">
                <a:solidFill>
                  <a:srgbClr val="F39200"/>
                </a:solidFill>
                <a:latin typeface="UAF Sans SemiBold"/>
              </a:rPr>
              <a:t>ЗАВДАННЯ РОЗВІДУВАЛЬНИХ ГРУП</a:t>
            </a:r>
          </a:p>
        </p:txBody>
      </p:sp>
      <p:sp>
        <p:nvSpPr>
          <p:cNvPr id="10" name="TextBox 9"/>
          <p:cNvSpPr txBox="1"/>
          <p:nvPr/>
        </p:nvSpPr>
        <p:spPr>
          <a:xfrm>
            <a:off x="411480" y="1856232"/>
            <a:ext cx="3840480" cy="2635978"/>
          </a:xfrm>
          <a:prstGeom prst="rect">
            <a:avLst/>
          </a:prstGeom>
          <a:noFill/>
        </p:spPr>
        <p:txBody>
          <a:bodyPr wrap="square" lIns="0" tIns="0" rIns="0" bIns="0" anchor="t">
            <a:spAutoFit/>
          </a:bodyPr>
          <a:lstStyle/>
          <a:p>
            <a:pPr marL="180975" indent="-180975" algn="l">
              <a:lnSpc>
                <a:spcPct val="130000"/>
              </a:lnSpc>
            </a:pPr>
            <a:r>
              <a:rPr lang="uk-UA" sz="1100" b="0" i="0" noProof="0" dirty="0">
                <a:solidFill>
                  <a:srgbClr val="F39200"/>
                </a:solidFill>
                <a:latin typeface="UAF Sans SemiBold"/>
              </a:rPr>
              <a:t>1.</a:t>
            </a:r>
            <a:r>
              <a:rPr lang="uk-UA" sz="1100" b="0" i="0" noProof="0" dirty="0">
                <a:solidFill>
                  <a:srgbClr val="F7F5F0"/>
                </a:solidFill>
                <a:latin typeface="UAF Sans"/>
              </a:rPr>
              <a:t>  Виявити ознаки присутності, встановити склад і положення противника в районі </a:t>
            </a:r>
            <a:r>
              <a:rPr lang="uk-UA" sz="1100" b="0" i="0" noProof="0" dirty="0" err="1">
                <a:solidFill>
                  <a:srgbClr val="F7F5F0"/>
                </a:solidFill>
                <a:latin typeface="UAF Sans"/>
              </a:rPr>
              <a:t>н.п</a:t>
            </a:r>
            <a:r>
              <a:rPr lang="uk-UA" sz="1100" b="0" i="0" noProof="0" dirty="0">
                <a:solidFill>
                  <a:srgbClr val="F7F5F0"/>
                </a:solidFill>
                <a:latin typeface="UAF Sans"/>
              </a:rPr>
              <a:t>. ТЕРНУВАТЕ; за сприятливих умов захопити в полон, у разі неможливості — знищити.</a:t>
            </a:r>
          </a:p>
          <a:p>
            <a:pPr marL="180975" indent="-180975" algn="l">
              <a:lnSpc>
                <a:spcPct val="130000"/>
              </a:lnSpc>
              <a:spcBef>
                <a:spcPts val="600"/>
              </a:spcBef>
            </a:pPr>
            <a:r>
              <a:rPr lang="uk-UA" sz="1100" b="0" i="0" noProof="0" dirty="0">
                <a:solidFill>
                  <a:srgbClr val="F39200"/>
                </a:solidFill>
                <a:latin typeface="UAF Sans SemiBold"/>
              </a:rPr>
              <a:t>2.</a:t>
            </a:r>
            <a:r>
              <a:rPr lang="uk-UA" sz="1100" b="0" i="0" noProof="0" dirty="0">
                <a:solidFill>
                  <a:srgbClr val="F7F5F0"/>
                </a:solidFill>
                <a:latin typeface="UAF Sans"/>
              </a:rPr>
              <a:t>  Вилучити засоби зв'язку, документи та зразки озброєння.</a:t>
            </a:r>
          </a:p>
          <a:p>
            <a:pPr marL="180975" indent="-180975" algn="l">
              <a:lnSpc>
                <a:spcPct val="130000"/>
              </a:lnSpc>
              <a:spcBef>
                <a:spcPts val="600"/>
              </a:spcBef>
            </a:pPr>
            <a:r>
              <a:rPr lang="uk-UA" sz="1100" b="0" i="0" noProof="0" dirty="0">
                <a:solidFill>
                  <a:srgbClr val="F39200"/>
                </a:solidFill>
                <a:latin typeface="UAF Sans SemiBold"/>
              </a:rPr>
              <a:t>3.</a:t>
            </a:r>
            <a:r>
              <a:rPr lang="uk-UA" sz="1100" b="0" i="0" noProof="0" dirty="0">
                <a:solidFill>
                  <a:srgbClr val="F7F5F0"/>
                </a:solidFill>
                <a:latin typeface="UAF Sans"/>
              </a:rPr>
              <a:t>  </a:t>
            </a:r>
            <a:r>
              <a:rPr lang="uk-UA" sz="1100" b="0" i="0" noProof="0" dirty="0">
                <a:solidFill>
                  <a:srgbClr val="F7F5F0"/>
                </a:solidFill>
                <a:latin typeface="UAF Sans SemiBold"/>
              </a:rPr>
              <a:t>РЗ №2: </a:t>
            </a:r>
            <a:r>
              <a:rPr lang="uk-UA" sz="1100" b="0" i="0" noProof="0" dirty="0">
                <a:solidFill>
                  <a:srgbClr val="F7F5F0"/>
                </a:solidFill>
                <a:latin typeface="UAF Sans"/>
              </a:rPr>
              <a:t>РГ “ТОКІО” (3 в/с), РГ “БЕРЛІН” (4 в/с), 3 екіпажі </a:t>
            </a:r>
            <a:r>
              <a:rPr lang="uk-UA" sz="1100" b="0" i="0" noProof="0" dirty="0" err="1">
                <a:solidFill>
                  <a:srgbClr val="F7F5F0"/>
                </a:solidFill>
                <a:latin typeface="UAF Sans"/>
              </a:rPr>
              <a:t>БпЛА</a:t>
            </a:r>
            <a:r>
              <a:rPr lang="uk-UA" sz="1100" b="0" i="0" noProof="0" dirty="0">
                <a:solidFill>
                  <a:srgbClr val="F7F5F0"/>
                </a:solidFill>
                <a:latin typeface="UAF Sans"/>
              </a:rPr>
              <a:t> </a:t>
            </a:r>
            <a:r>
              <a:rPr lang="uk-UA" sz="1100" b="0" i="0" noProof="0" dirty="0" err="1">
                <a:solidFill>
                  <a:srgbClr val="F7F5F0"/>
                </a:solidFill>
                <a:latin typeface="UAF Sans"/>
              </a:rPr>
              <a:t>мультироторного</a:t>
            </a:r>
            <a:r>
              <a:rPr lang="uk-UA" sz="1100" b="0" i="0" noProof="0" dirty="0">
                <a:solidFill>
                  <a:srgbClr val="F7F5F0"/>
                </a:solidFill>
                <a:latin typeface="UAF Sans"/>
              </a:rPr>
              <a:t> типу, екіпаж FPV, екіпаж </a:t>
            </a:r>
            <a:r>
              <a:rPr lang="uk-UA" sz="1100" b="0" i="0" noProof="0" dirty="0" err="1">
                <a:solidFill>
                  <a:srgbClr val="F7F5F0"/>
                </a:solidFill>
                <a:latin typeface="UAF Sans"/>
              </a:rPr>
              <a:t>БпЛА</a:t>
            </a:r>
            <a:r>
              <a:rPr lang="uk-UA" sz="1100" b="0" i="0" noProof="0" dirty="0">
                <a:solidFill>
                  <a:srgbClr val="F7F5F0"/>
                </a:solidFill>
                <a:latin typeface="UAF Sans"/>
              </a:rPr>
              <a:t> “</a:t>
            </a:r>
            <a:r>
              <a:rPr lang="uk-UA" sz="1100" b="0" i="0" noProof="0" dirty="0" err="1">
                <a:solidFill>
                  <a:srgbClr val="F7F5F0"/>
                </a:solidFill>
                <a:latin typeface="UAF Sans"/>
              </a:rPr>
              <a:t>Vampire</a:t>
            </a:r>
            <a:r>
              <a:rPr lang="uk-UA" sz="1100" b="0" i="0" noProof="0" dirty="0">
                <a:solidFill>
                  <a:srgbClr val="F7F5F0"/>
                </a:solidFill>
                <a:latin typeface="UAF Sans"/>
              </a:rPr>
              <a:t>”.</a:t>
            </a:r>
          </a:p>
          <a:p>
            <a:pPr marL="180975" indent="-180975" algn="l">
              <a:lnSpc>
                <a:spcPct val="130000"/>
              </a:lnSpc>
              <a:spcBef>
                <a:spcPts val="600"/>
              </a:spcBef>
            </a:pPr>
            <a:r>
              <a:rPr lang="uk-UA" sz="1100" b="0" i="0" noProof="0" dirty="0">
                <a:solidFill>
                  <a:srgbClr val="F39200"/>
                </a:solidFill>
                <a:latin typeface="UAF Sans SemiBold"/>
              </a:rPr>
              <a:t>4.</a:t>
            </a:r>
            <a:r>
              <a:rPr lang="uk-UA" sz="1100" b="0" i="0" noProof="0" dirty="0">
                <a:solidFill>
                  <a:srgbClr val="F7F5F0"/>
                </a:solidFill>
                <a:latin typeface="UAF Sans"/>
              </a:rPr>
              <a:t>  </a:t>
            </a:r>
            <a:r>
              <a:rPr lang="uk-UA" sz="1100" b="0" i="0" noProof="0" dirty="0">
                <a:solidFill>
                  <a:srgbClr val="F7F5F0"/>
                </a:solidFill>
                <a:latin typeface="UAF Sans SemiBold"/>
              </a:rPr>
              <a:t>РСР: </a:t>
            </a:r>
            <a:r>
              <a:rPr lang="uk-UA" sz="1100" b="0" i="0" noProof="0" dirty="0" err="1">
                <a:solidFill>
                  <a:srgbClr val="F7F5F0"/>
                </a:solidFill>
                <a:latin typeface="UAF Sans"/>
              </a:rPr>
              <a:t>Гр</a:t>
            </a:r>
            <a:r>
              <a:rPr lang="uk-UA" sz="1100" b="0" i="0" noProof="0" dirty="0">
                <a:solidFill>
                  <a:srgbClr val="F7F5F0"/>
                </a:solidFill>
                <a:latin typeface="UAF Sans"/>
              </a:rPr>
              <a:t> </a:t>
            </a:r>
            <a:r>
              <a:rPr lang="uk-UA" sz="1100" b="0" i="0" noProof="0" dirty="0" err="1">
                <a:solidFill>
                  <a:srgbClr val="F7F5F0"/>
                </a:solidFill>
                <a:latin typeface="UAF Sans"/>
              </a:rPr>
              <a:t>СпР</a:t>
            </a:r>
            <a:r>
              <a:rPr lang="uk-UA" sz="1100" b="0" i="0" noProof="0" dirty="0">
                <a:solidFill>
                  <a:srgbClr val="F7F5F0"/>
                </a:solidFill>
                <a:latin typeface="UAF Sans"/>
              </a:rPr>
              <a:t> “МЕДОЇД”, “ДЗВІНОЧОК”, “ПРОЛІСОК” (по 4 в/с), ППД </a:t>
            </a:r>
            <a:r>
              <a:rPr lang="uk-UA" sz="1100" b="0" i="0" noProof="0" dirty="0" err="1">
                <a:solidFill>
                  <a:srgbClr val="F7F5F0"/>
                </a:solidFill>
                <a:latin typeface="UAF Sans"/>
              </a:rPr>
              <a:t>БпЛА</a:t>
            </a:r>
            <a:r>
              <a:rPr lang="uk-UA" sz="1100" b="0" i="0" noProof="0" dirty="0">
                <a:solidFill>
                  <a:srgbClr val="F7F5F0"/>
                </a:solidFill>
                <a:latin typeface="UAF Sans"/>
              </a:rPr>
              <a:t> “СЕРПЕНЬ” (4 в/с).</a:t>
            </a:r>
          </a:p>
        </p:txBody>
      </p:sp>
      <p:sp>
        <p:nvSpPr>
          <p:cNvPr id="11" name="Rectangle 10"/>
          <p:cNvSpPr/>
          <p:nvPr/>
        </p:nvSpPr>
        <p:spPr>
          <a:xfrm>
            <a:off x="411480" y="4892040"/>
            <a:ext cx="3840480" cy="1417320"/>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2" name="Connector 11"/>
          <p:cNvCxnSpPr/>
          <p:nvPr/>
        </p:nvCxnSpPr>
        <p:spPr>
          <a:xfrm>
            <a:off x="411480" y="4892040"/>
            <a:ext cx="0" cy="1417320"/>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992040"/>
            <a:ext cx="3440480" cy="1217320"/>
          </a:xfrm>
          <a:prstGeom prst="rect">
            <a:avLst/>
          </a:prstGeom>
          <a:noFill/>
        </p:spPr>
        <p:txBody>
          <a:bodyPr wrap="square" lIns="0" tIns="0" rIns="0" bIns="0" anchor="ctr">
            <a:spAutoFit/>
          </a:bodyPr>
          <a:lstStyle/>
          <a:p>
            <a:pPr algn="l">
              <a:lnSpc>
                <a:spcPct val="120000"/>
              </a:lnSpc>
            </a:pPr>
            <a:r>
              <a:rPr lang="uk-UA" sz="950" b="0" i="0" spc="200" noProof="0" dirty="0">
                <a:solidFill>
                  <a:srgbClr val="F39200"/>
                </a:solidFill>
                <a:latin typeface="UAF Sans SemiBold"/>
              </a:rPr>
              <a:t>Взаємодія</a:t>
            </a:r>
          </a:p>
          <a:p>
            <a:pPr algn="l">
              <a:lnSpc>
                <a:spcPct val="130000"/>
              </a:lnSpc>
              <a:spcBef>
                <a:spcPts val="500"/>
              </a:spcBef>
            </a:pPr>
            <a:r>
              <a:rPr lang="uk-UA" sz="1050" b="0" i="0" noProof="0" dirty="0">
                <a:solidFill>
                  <a:srgbClr val="D2CCBC"/>
                </a:solidFill>
                <a:latin typeface="UAF Sans"/>
              </a:rPr>
              <a:t>Організовано взаємодію з 2 </a:t>
            </a:r>
            <a:r>
              <a:rPr lang="uk-UA" sz="1050" b="0" i="0" noProof="0" dirty="0" err="1">
                <a:solidFill>
                  <a:srgbClr val="D2CCBC"/>
                </a:solidFill>
                <a:latin typeface="UAF Sans"/>
              </a:rPr>
              <a:t>бат</a:t>
            </a:r>
            <a:r>
              <a:rPr lang="uk-UA" sz="1050" b="0" i="0" noProof="0" dirty="0">
                <a:solidFill>
                  <a:srgbClr val="D2CCBC"/>
                </a:solidFill>
                <a:latin typeface="UAF Sans"/>
              </a:rPr>
              <a:t> 107 обр </a:t>
            </a:r>
            <a:r>
              <a:rPr lang="uk-UA" sz="1050" b="0" i="0" noProof="0" dirty="0" err="1">
                <a:solidFill>
                  <a:srgbClr val="D2CCBC"/>
                </a:solidFill>
                <a:latin typeface="UAF Sans"/>
              </a:rPr>
              <a:t>ТрО</a:t>
            </a:r>
            <a:r>
              <a:rPr lang="uk-UA" sz="1050" b="0" i="0" noProof="0" dirty="0">
                <a:solidFill>
                  <a:srgbClr val="D2CCBC"/>
                </a:solidFill>
                <a:latin typeface="UAF Sans"/>
              </a:rPr>
              <a:t>, 2 </a:t>
            </a:r>
            <a:r>
              <a:rPr lang="uk-UA" sz="1050" b="0" i="0" noProof="0" dirty="0" err="1">
                <a:solidFill>
                  <a:srgbClr val="D2CCBC"/>
                </a:solidFill>
                <a:latin typeface="UAF Sans"/>
              </a:rPr>
              <a:t>бат</a:t>
            </a:r>
            <a:r>
              <a:rPr lang="uk-UA" sz="1050" b="0" i="0" noProof="0" dirty="0">
                <a:solidFill>
                  <a:srgbClr val="D2CCBC"/>
                </a:solidFill>
                <a:latin typeface="UAF Sans"/>
              </a:rPr>
              <a:t> 108 обр </a:t>
            </a:r>
            <a:r>
              <a:rPr lang="uk-UA" sz="1050" b="0" i="0" noProof="0" dirty="0" err="1">
                <a:solidFill>
                  <a:srgbClr val="D2CCBC"/>
                </a:solidFill>
                <a:latin typeface="UAF Sans"/>
              </a:rPr>
              <a:t>ТрО</a:t>
            </a:r>
            <a:r>
              <a:rPr lang="uk-UA" sz="1050" b="0" i="0" noProof="0" dirty="0">
                <a:solidFill>
                  <a:srgbClr val="D2CCBC"/>
                </a:solidFill>
                <a:latin typeface="UAF Sans"/>
              </a:rPr>
              <a:t>, 3 </a:t>
            </a:r>
            <a:r>
              <a:rPr lang="uk-UA" sz="1050" b="0" i="0" noProof="0" dirty="0" err="1">
                <a:solidFill>
                  <a:srgbClr val="D2CCBC"/>
                </a:solidFill>
                <a:latin typeface="UAF Sans"/>
              </a:rPr>
              <a:t>бат</a:t>
            </a:r>
            <a:r>
              <a:rPr lang="uk-UA" sz="1050" b="0" i="0" noProof="0" dirty="0">
                <a:solidFill>
                  <a:srgbClr val="D2CCBC"/>
                </a:solidFill>
                <a:latin typeface="UAF Sans"/>
              </a:rPr>
              <a:t> 33 ОШП, 2 </a:t>
            </a:r>
            <a:r>
              <a:rPr lang="uk-UA" sz="1050" b="0" i="0" noProof="0" dirty="0" err="1">
                <a:solidFill>
                  <a:srgbClr val="D2CCBC"/>
                </a:solidFill>
                <a:latin typeface="UAF Sans"/>
              </a:rPr>
              <a:t>бат</a:t>
            </a:r>
            <a:r>
              <a:rPr lang="uk-UA" sz="1050" b="0" i="0" noProof="0" dirty="0">
                <a:solidFill>
                  <a:srgbClr val="D2CCBC"/>
                </a:solidFill>
                <a:latin typeface="UAF Sans"/>
              </a:rPr>
              <a:t> 142 ОМБР. Уточнено позиції СОУ, ймовірні маршрути противника, умови радіозв'язку та роботи засобів РЕБ.</a:t>
            </a:r>
          </a:p>
        </p:txBody>
      </p:sp>
      <p:sp>
        <p:nvSpPr>
          <p:cNvPr id="14" name="Rectangle 13"/>
          <p:cNvSpPr/>
          <p:nvPr/>
        </p:nvSpPr>
        <p:spPr>
          <a:xfrm>
            <a:off x="4663440" y="1481328"/>
            <a:ext cx="7117080" cy="4468672"/>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pic>
        <p:nvPicPr>
          <p:cNvPr id="15" name="Picture 14" descr="image.jpg"/>
          <p:cNvPicPr>
            <a:picLocks noChangeAspect="1"/>
          </p:cNvPicPr>
          <p:nvPr/>
        </p:nvPicPr>
        <p:blipFill>
          <a:blip r:embed="rId4"/>
          <a:stretch>
            <a:fillRect/>
          </a:stretch>
        </p:blipFill>
        <p:spPr>
          <a:xfrm>
            <a:off x="5811103" y="1563624"/>
            <a:ext cx="4821752" cy="4304080"/>
          </a:xfrm>
          <a:prstGeom prst="rect">
            <a:avLst/>
          </a:prstGeom>
        </p:spPr>
      </p:pic>
      <p:cxnSp>
        <p:nvCxnSpPr>
          <p:cNvPr id="16" name="Connector 15"/>
          <p:cNvCxnSpPr/>
          <p:nvPr/>
        </p:nvCxnSpPr>
        <p:spPr>
          <a:xfrm>
            <a:off x="466344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66344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1643360" y="595000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780520" y="581284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463440" y="6040000"/>
            <a:ext cx="7517080" cy="300000"/>
          </a:xfrm>
          <a:prstGeom prst="rect">
            <a:avLst/>
          </a:prstGeom>
          <a:noFill/>
        </p:spPr>
        <p:txBody>
          <a:bodyPr wrap="square" lIns="0" tIns="0" rIns="0" bIns="0" anchor="t">
            <a:spAutoFit/>
          </a:bodyPr>
          <a:lstStyle/>
          <a:p>
            <a:pPr algn="ctr">
              <a:lnSpc>
                <a:spcPct val="118000"/>
              </a:lnSpc>
            </a:pPr>
            <a:r>
              <a:rPr lang="uk-UA" sz="850" b="0" i="0" spc="120" noProof="0" dirty="0">
                <a:solidFill>
                  <a:srgbClr val="A8A08A"/>
                </a:solidFill>
                <a:latin typeface="UAF Sans SemiBold"/>
              </a:rPr>
              <a:t>РАЙОН РОЗВІДУВАЛЬНО-ПОШУКОВИХ ДІЙ РЗ №2 В Н.П. ТЕРНУВАТЕ</a:t>
            </a:r>
          </a:p>
        </p:txBody>
      </p:sp>
      <p:sp>
        <p:nvSpPr>
          <p:cNvPr id="21" name="TextBox 20"/>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ТЕРНУВАТЕ: ХІД ВИКОНАННЯ ЗАВДАННЯ</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Основні події за період </a:t>
            </a:r>
            <a:r>
              <a:rPr lang="uk-UA" sz="1250" b="0" i="0" noProof="0" dirty="0" err="1">
                <a:solidFill>
                  <a:srgbClr val="D2CCBC"/>
                </a:solidFill>
                <a:latin typeface="UAF Sans"/>
              </a:rPr>
              <a:t>розвідувально</a:t>
            </a:r>
            <a:r>
              <a:rPr lang="uk-UA" sz="1250" b="0" i="0" noProof="0" dirty="0">
                <a:solidFill>
                  <a:srgbClr val="D2CCBC"/>
                </a:solidFill>
                <a:latin typeface="UAF Sans"/>
              </a:rPr>
              <a:t>-пошукових дій</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noProof="0" dirty="0">
                <a:solidFill>
                  <a:srgbClr val="F39200"/>
                </a:solidFill>
                <a:latin typeface="UAF Sans"/>
              </a:rPr>
              <a:t>5</a:t>
            </a:r>
            <a:endParaRPr lang="uk-UA" sz="2200" b="1" i="0" noProof="0" dirty="0">
              <a:solidFill>
                <a:srgbClr val="F39200"/>
              </a:solidFill>
              <a:latin typeface="UAF Sans"/>
            </a:endParaRPr>
          </a:p>
        </p:txBody>
      </p:sp>
      <p:cxnSp>
        <p:nvCxnSpPr>
          <p:cNvPr id="9" name="Connector 8"/>
          <p:cNvCxnSpPr/>
          <p:nvPr/>
        </p:nvCxnSpPr>
        <p:spPr>
          <a:xfrm>
            <a:off x="1661480" y="1541328"/>
            <a:ext cx="0" cy="4708032"/>
          </a:xfrm>
          <a:prstGeom prst="line">
            <a:avLst/>
          </a:prstGeom>
          <a:ln w="12700">
            <a:solidFill>
              <a:srgbClr val="6A624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11480" y="1511328"/>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16–17.08</a:t>
            </a:r>
          </a:p>
        </p:txBody>
      </p:sp>
      <p:sp>
        <p:nvSpPr>
          <p:cNvPr id="11" name="Rectangle 10"/>
          <p:cNvSpPr/>
          <p:nvPr/>
        </p:nvSpPr>
        <p:spPr>
          <a:xfrm>
            <a:off x="1621480" y="1551328"/>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12" name="TextBox 11"/>
          <p:cNvSpPr txBox="1"/>
          <p:nvPr/>
        </p:nvSpPr>
        <p:spPr>
          <a:xfrm>
            <a:off x="1831480" y="1511328"/>
            <a:ext cx="4889360" cy="629718"/>
          </a:xfrm>
          <a:prstGeom prst="rect">
            <a:avLst/>
          </a:prstGeom>
          <a:noFill/>
        </p:spPr>
        <p:txBody>
          <a:bodyPr wrap="square" lIns="0" tIns="0" rIns="0" bIns="0" anchor="t">
            <a:spAutoFit/>
          </a:bodyPr>
          <a:lstStyle/>
          <a:p>
            <a:pPr algn="l">
              <a:lnSpc>
                <a:spcPct val="120000"/>
              </a:lnSpc>
            </a:pPr>
            <a:r>
              <a:rPr lang="uk-UA" sz="1050" b="0" i="0" noProof="0" dirty="0">
                <a:solidFill>
                  <a:srgbClr val="F7F5F0"/>
                </a:solidFill>
                <a:latin typeface="UAF Sans"/>
              </a:rPr>
              <a:t>РГ “БЕРЛІН” та РГ “ТОКІО” доставлено автомобілем до точки спішування; висування в район РПД здійснено пішим порядком з дотриманням заходів маскування.</a:t>
            </a:r>
          </a:p>
        </p:txBody>
      </p:sp>
      <p:sp>
        <p:nvSpPr>
          <p:cNvPr id="13" name="TextBox 12"/>
          <p:cNvSpPr txBox="1"/>
          <p:nvPr/>
        </p:nvSpPr>
        <p:spPr>
          <a:xfrm>
            <a:off x="411480" y="2201046"/>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18.08</a:t>
            </a:r>
          </a:p>
        </p:txBody>
      </p:sp>
      <p:sp>
        <p:nvSpPr>
          <p:cNvPr id="14" name="Rectangle 13"/>
          <p:cNvSpPr/>
          <p:nvPr/>
        </p:nvSpPr>
        <p:spPr>
          <a:xfrm>
            <a:off x="1621480" y="2241046"/>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15" name="TextBox 14"/>
          <p:cNvSpPr txBox="1"/>
          <p:nvPr/>
        </p:nvSpPr>
        <p:spPr>
          <a:xfrm>
            <a:off x="1831480" y="2201046"/>
            <a:ext cx="4889360" cy="629718"/>
          </a:xfrm>
          <a:prstGeom prst="rect">
            <a:avLst/>
          </a:prstGeom>
          <a:noFill/>
        </p:spPr>
        <p:txBody>
          <a:bodyPr wrap="square" lIns="0" tIns="0" rIns="0" bIns="0" anchor="t">
            <a:spAutoFit/>
          </a:bodyPr>
          <a:lstStyle/>
          <a:p>
            <a:pPr algn="l">
              <a:lnSpc>
                <a:spcPct val="120000"/>
              </a:lnSpc>
            </a:pPr>
            <a:r>
              <a:rPr lang="uk-UA" sz="1050" b="0" i="0" noProof="0" dirty="0">
                <a:solidFill>
                  <a:srgbClr val="F7F5F0"/>
                </a:solidFill>
                <a:latin typeface="UAF Sans"/>
              </a:rPr>
              <a:t>В/с РГ “ТОКІО” підірвався на СВП на маршруті висування. Евакуацію пораненого здійснено НРК у зв'язку з неможливістю заїзду автомобільної техніки.</a:t>
            </a:r>
          </a:p>
        </p:txBody>
      </p:sp>
      <p:sp>
        <p:nvSpPr>
          <p:cNvPr id="16" name="TextBox 15"/>
          <p:cNvSpPr txBox="1"/>
          <p:nvPr/>
        </p:nvSpPr>
        <p:spPr>
          <a:xfrm>
            <a:off x="411480" y="2890765"/>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20–21.08</a:t>
            </a:r>
          </a:p>
        </p:txBody>
      </p:sp>
      <p:sp>
        <p:nvSpPr>
          <p:cNvPr id="17" name="Rectangle 16"/>
          <p:cNvSpPr/>
          <p:nvPr/>
        </p:nvSpPr>
        <p:spPr>
          <a:xfrm>
            <a:off x="1621480" y="2930765"/>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18" name="TextBox 17"/>
          <p:cNvSpPr txBox="1"/>
          <p:nvPr/>
        </p:nvSpPr>
        <p:spPr>
          <a:xfrm>
            <a:off x="1831480" y="2890765"/>
            <a:ext cx="4889360" cy="629718"/>
          </a:xfrm>
          <a:prstGeom prst="rect">
            <a:avLst/>
          </a:prstGeom>
          <a:noFill/>
        </p:spPr>
        <p:txBody>
          <a:bodyPr wrap="square" lIns="0" tIns="0" rIns="0" bIns="0" anchor="t">
            <a:spAutoFit/>
          </a:bodyPr>
          <a:lstStyle/>
          <a:p>
            <a:pPr algn="l">
              <a:lnSpc>
                <a:spcPct val="120000"/>
              </a:lnSpc>
            </a:pPr>
            <a:r>
              <a:rPr lang="uk-UA" sz="1050" b="0" i="0" noProof="0" dirty="0">
                <a:solidFill>
                  <a:srgbClr val="F7F5F0"/>
                </a:solidFill>
                <a:latin typeface="UAF Sans"/>
              </a:rPr>
              <a:t>Виявлено зброю та речове майно противника. Відбито контакт із противником. Внаслідок ураження FPV 2 в/с </a:t>
            </a:r>
            <a:r>
              <a:rPr lang="uk-UA" sz="1050" b="0" i="0" noProof="0" dirty="0" err="1">
                <a:solidFill>
                  <a:srgbClr val="F7F5F0"/>
                </a:solidFill>
                <a:latin typeface="UAF Sans"/>
              </a:rPr>
              <a:t>Гр</a:t>
            </a:r>
            <a:r>
              <a:rPr lang="uk-UA" sz="1050" b="0" i="0" noProof="0" dirty="0">
                <a:solidFill>
                  <a:srgbClr val="F7F5F0"/>
                </a:solidFill>
                <a:latin typeface="UAF Sans"/>
              </a:rPr>
              <a:t> </a:t>
            </a:r>
            <a:r>
              <a:rPr lang="uk-UA" sz="1050" b="0" i="0" noProof="0" dirty="0" err="1">
                <a:solidFill>
                  <a:srgbClr val="F7F5F0"/>
                </a:solidFill>
                <a:latin typeface="UAF Sans"/>
              </a:rPr>
              <a:t>СпР</a:t>
            </a:r>
            <a:r>
              <a:rPr lang="uk-UA" sz="1050" b="0" i="0" noProof="0" dirty="0">
                <a:solidFill>
                  <a:srgbClr val="F7F5F0"/>
                </a:solidFill>
                <a:latin typeface="UAF Sans"/>
              </a:rPr>
              <a:t> отримали осколкові поранення легкого ступеня.</a:t>
            </a:r>
          </a:p>
        </p:txBody>
      </p:sp>
      <p:sp>
        <p:nvSpPr>
          <p:cNvPr id="19" name="TextBox 18"/>
          <p:cNvSpPr txBox="1"/>
          <p:nvPr/>
        </p:nvSpPr>
        <p:spPr>
          <a:xfrm>
            <a:off x="411480" y="3580484"/>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26.08</a:t>
            </a:r>
          </a:p>
        </p:txBody>
      </p:sp>
      <p:sp>
        <p:nvSpPr>
          <p:cNvPr id="20" name="Rectangle 19"/>
          <p:cNvSpPr/>
          <p:nvPr/>
        </p:nvSpPr>
        <p:spPr>
          <a:xfrm>
            <a:off x="1621480" y="3620484"/>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21" name="TextBox 20"/>
          <p:cNvSpPr txBox="1"/>
          <p:nvPr/>
        </p:nvSpPr>
        <p:spPr>
          <a:xfrm>
            <a:off x="1831480" y="3580484"/>
            <a:ext cx="4889360" cy="629718"/>
          </a:xfrm>
          <a:prstGeom prst="rect">
            <a:avLst/>
          </a:prstGeom>
          <a:noFill/>
        </p:spPr>
        <p:txBody>
          <a:bodyPr wrap="square" lIns="0" tIns="0" rIns="0" bIns="0" anchor="t">
            <a:spAutoFit/>
          </a:bodyPr>
          <a:lstStyle/>
          <a:p>
            <a:pPr algn="l">
              <a:lnSpc>
                <a:spcPct val="120000"/>
              </a:lnSpc>
            </a:pPr>
            <a:r>
              <a:rPr lang="uk-UA" sz="1050" b="0" i="0" noProof="0" dirty="0" err="1">
                <a:solidFill>
                  <a:srgbClr val="F7F5F0"/>
                </a:solidFill>
                <a:latin typeface="UAF Sans"/>
              </a:rPr>
              <a:t>Екіпажем</a:t>
            </a:r>
            <a:r>
              <a:rPr lang="uk-UA" sz="1050" b="0" i="0" noProof="0" dirty="0">
                <a:solidFill>
                  <a:srgbClr val="F7F5F0"/>
                </a:solidFill>
                <a:latin typeface="UAF Sans"/>
              </a:rPr>
              <a:t> ППД “СЕРПЕНЬ” здійснено підсвітку цілі для вогневих засобів: знищено 1 в/с противника, 1 в/с уражено скиданням боєприпасів.</a:t>
            </a:r>
          </a:p>
        </p:txBody>
      </p:sp>
      <p:sp>
        <p:nvSpPr>
          <p:cNvPr id="22" name="TextBox 21"/>
          <p:cNvSpPr txBox="1"/>
          <p:nvPr/>
        </p:nvSpPr>
        <p:spPr>
          <a:xfrm>
            <a:off x="411480" y="4270203"/>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28.08</a:t>
            </a:r>
          </a:p>
        </p:txBody>
      </p:sp>
      <p:sp>
        <p:nvSpPr>
          <p:cNvPr id="23" name="Rectangle 22"/>
          <p:cNvSpPr/>
          <p:nvPr/>
        </p:nvSpPr>
        <p:spPr>
          <a:xfrm>
            <a:off x="1621480" y="4310203"/>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24" name="TextBox 23"/>
          <p:cNvSpPr txBox="1"/>
          <p:nvPr/>
        </p:nvSpPr>
        <p:spPr>
          <a:xfrm>
            <a:off x="1831480" y="4270203"/>
            <a:ext cx="4889360" cy="629718"/>
          </a:xfrm>
          <a:prstGeom prst="rect">
            <a:avLst/>
          </a:prstGeom>
          <a:noFill/>
        </p:spPr>
        <p:txBody>
          <a:bodyPr wrap="square" lIns="0" tIns="0" rIns="0" bIns="0" anchor="t">
            <a:spAutoFit/>
          </a:bodyPr>
          <a:lstStyle/>
          <a:p>
            <a:pPr algn="l">
              <a:lnSpc>
                <a:spcPct val="120000"/>
              </a:lnSpc>
            </a:pPr>
            <a:r>
              <a:rPr lang="uk-UA" sz="1050" b="0" i="0" noProof="0" dirty="0">
                <a:solidFill>
                  <a:srgbClr val="F7F5F0"/>
                </a:solidFill>
                <a:latin typeface="UAF Sans"/>
              </a:rPr>
              <a:t>Знищено 2 FPV-</a:t>
            </a:r>
            <a:r>
              <a:rPr lang="uk-UA" sz="1050" b="0" i="0" noProof="0" dirty="0" err="1">
                <a:solidFill>
                  <a:srgbClr val="F7F5F0"/>
                </a:solidFill>
                <a:latin typeface="UAF Sans"/>
              </a:rPr>
              <a:t>БпЛА</a:t>
            </a:r>
            <a:r>
              <a:rPr lang="uk-UA" sz="1050" b="0" i="0" noProof="0" dirty="0">
                <a:solidFill>
                  <a:srgbClr val="F7F5F0"/>
                </a:solidFill>
                <a:latin typeface="UAF Sans"/>
              </a:rPr>
              <a:t> противника в засідці та 1 в/с противника. </a:t>
            </a:r>
            <a:r>
              <a:rPr lang="uk-UA" sz="1050" b="0" i="0" noProof="0" dirty="0" err="1">
                <a:solidFill>
                  <a:srgbClr val="F7F5F0"/>
                </a:solidFill>
                <a:latin typeface="UAF Sans"/>
              </a:rPr>
              <a:t>Гр</a:t>
            </a:r>
            <a:r>
              <a:rPr lang="uk-UA" sz="1050" b="0" i="0" noProof="0" dirty="0">
                <a:solidFill>
                  <a:srgbClr val="F7F5F0"/>
                </a:solidFill>
                <a:latin typeface="UAF Sans"/>
              </a:rPr>
              <a:t> </a:t>
            </a:r>
            <a:r>
              <a:rPr lang="uk-UA" sz="1050" b="0" i="0" noProof="0" dirty="0" err="1">
                <a:solidFill>
                  <a:srgbClr val="F7F5F0"/>
                </a:solidFill>
                <a:latin typeface="UAF Sans"/>
              </a:rPr>
              <a:t>СпР</a:t>
            </a:r>
            <a:r>
              <a:rPr lang="uk-UA" sz="1050" b="0" i="0" noProof="0" dirty="0">
                <a:solidFill>
                  <a:srgbClr val="F7F5F0"/>
                </a:solidFill>
                <a:latin typeface="UAF Sans"/>
              </a:rPr>
              <a:t> “ДЗВІНОЧОК” у стрілецькому бою захопила в полон 1 в/с противника.</a:t>
            </a:r>
          </a:p>
        </p:txBody>
      </p:sp>
      <p:sp>
        <p:nvSpPr>
          <p:cNvPr id="25" name="TextBox 24"/>
          <p:cNvSpPr txBox="1"/>
          <p:nvPr/>
        </p:nvSpPr>
        <p:spPr>
          <a:xfrm>
            <a:off x="411480" y="4959922"/>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29.08</a:t>
            </a:r>
          </a:p>
        </p:txBody>
      </p:sp>
      <p:sp>
        <p:nvSpPr>
          <p:cNvPr id="26" name="Rectangle 25"/>
          <p:cNvSpPr/>
          <p:nvPr/>
        </p:nvSpPr>
        <p:spPr>
          <a:xfrm>
            <a:off x="1621480" y="4999922"/>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27" name="TextBox 26"/>
          <p:cNvSpPr txBox="1"/>
          <p:nvPr/>
        </p:nvSpPr>
        <p:spPr>
          <a:xfrm>
            <a:off x="1831480" y="4959922"/>
            <a:ext cx="4889360" cy="629718"/>
          </a:xfrm>
          <a:prstGeom prst="rect">
            <a:avLst/>
          </a:prstGeom>
          <a:noFill/>
        </p:spPr>
        <p:txBody>
          <a:bodyPr wrap="square" lIns="0" tIns="0" rIns="0" bIns="0" anchor="t">
            <a:spAutoFit/>
          </a:bodyPr>
          <a:lstStyle/>
          <a:p>
            <a:pPr algn="l">
              <a:lnSpc>
                <a:spcPct val="120000"/>
              </a:lnSpc>
            </a:pPr>
            <a:r>
              <a:rPr lang="uk-UA" sz="1050" b="0" i="0" noProof="0" dirty="0">
                <a:solidFill>
                  <a:srgbClr val="F7F5F0"/>
                </a:solidFill>
                <a:latin typeface="UAF Sans"/>
              </a:rPr>
              <a:t>Противником виявлено ПДП “СЕРПЕНЬ” та нанесено масоване ураження FPV на </a:t>
            </a:r>
            <a:r>
              <a:rPr lang="uk-UA" sz="1050" b="0" i="0" noProof="0" dirty="0" err="1">
                <a:solidFill>
                  <a:srgbClr val="F7F5F0"/>
                </a:solidFill>
                <a:latin typeface="UAF Sans"/>
              </a:rPr>
              <a:t>оптоволокні</a:t>
            </a:r>
            <a:r>
              <a:rPr lang="uk-UA" sz="1050" b="0" i="0" noProof="0" dirty="0">
                <a:solidFill>
                  <a:srgbClr val="F7F5F0"/>
                </a:solidFill>
                <a:latin typeface="UAF Sans"/>
              </a:rPr>
              <a:t> та </a:t>
            </a:r>
            <a:r>
              <a:rPr lang="uk-UA" sz="1050" b="0" i="0" noProof="0" dirty="0" err="1">
                <a:solidFill>
                  <a:srgbClr val="F7F5F0"/>
                </a:solidFill>
                <a:latin typeface="UAF Sans"/>
              </a:rPr>
              <a:t>БпЛА</a:t>
            </a:r>
            <a:r>
              <a:rPr lang="uk-UA" sz="1050" b="0" i="0" noProof="0" dirty="0">
                <a:solidFill>
                  <a:srgbClr val="F7F5F0"/>
                </a:solidFill>
                <a:latin typeface="UAF Sans"/>
              </a:rPr>
              <a:t> “</a:t>
            </a:r>
            <a:r>
              <a:rPr lang="uk-UA" sz="1050" b="0" i="0" noProof="0" dirty="0" err="1">
                <a:solidFill>
                  <a:srgbClr val="F7F5F0"/>
                </a:solidFill>
                <a:latin typeface="UAF Sans"/>
              </a:rPr>
              <a:t>Молнія</a:t>
            </a:r>
            <a:r>
              <a:rPr lang="uk-UA" sz="1050" b="0" i="0" noProof="0" dirty="0">
                <a:solidFill>
                  <a:srgbClr val="F7F5F0"/>
                </a:solidFill>
                <a:latin typeface="UAF Sans"/>
              </a:rPr>
              <a:t>”. О/с переміщено на запасну позицію.</a:t>
            </a:r>
          </a:p>
        </p:txBody>
      </p:sp>
      <p:sp>
        <p:nvSpPr>
          <p:cNvPr id="28" name="TextBox 27"/>
          <p:cNvSpPr txBox="1"/>
          <p:nvPr/>
        </p:nvSpPr>
        <p:spPr>
          <a:xfrm>
            <a:off x="411480" y="5649641"/>
            <a:ext cx="1130000" cy="629718"/>
          </a:xfrm>
          <a:prstGeom prst="rect">
            <a:avLst/>
          </a:prstGeom>
          <a:noFill/>
        </p:spPr>
        <p:txBody>
          <a:bodyPr wrap="square" lIns="0" tIns="0" rIns="0" bIns="0" anchor="t">
            <a:spAutoFit/>
          </a:bodyPr>
          <a:lstStyle/>
          <a:p>
            <a:pPr algn="l">
              <a:lnSpc>
                <a:spcPct val="110000"/>
              </a:lnSpc>
            </a:pPr>
            <a:r>
              <a:rPr lang="uk-UA" sz="1050" b="0" i="0" spc="60" noProof="0" dirty="0">
                <a:solidFill>
                  <a:srgbClr val="F39200"/>
                </a:solidFill>
                <a:latin typeface="UAF Sans SemiBold"/>
              </a:rPr>
              <a:t>04.09</a:t>
            </a:r>
          </a:p>
        </p:txBody>
      </p:sp>
      <p:sp>
        <p:nvSpPr>
          <p:cNvPr id="29" name="Rectangle 28"/>
          <p:cNvSpPr/>
          <p:nvPr/>
        </p:nvSpPr>
        <p:spPr>
          <a:xfrm>
            <a:off x="1621480" y="5689641"/>
            <a:ext cx="80000" cy="80000"/>
          </a:xfrm>
          <a:prstGeom prst="rect">
            <a:avLst/>
          </a:prstGeom>
          <a:solidFill>
            <a:srgbClr val="F39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30" name="TextBox 29"/>
          <p:cNvSpPr txBox="1"/>
          <p:nvPr/>
        </p:nvSpPr>
        <p:spPr>
          <a:xfrm>
            <a:off x="1831480" y="5649641"/>
            <a:ext cx="4889360" cy="629718"/>
          </a:xfrm>
          <a:prstGeom prst="rect">
            <a:avLst/>
          </a:prstGeom>
          <a:noFill/>
        </p:spPr>
        <p:txBody>
          <a:bodyPr wrap="square" lIns="0" tIns="0" rIns="0" bIns="0" anchor="t">
            <a:spAutoFit/>
          </a:bodyPr>
          <a:lstStyle/>
          <a:p>
            <a:pPr algn="l">
              <a:lnSpc>
                <a:spcPct val="120000"/>
              </a:lnSpc>
            </a:pPr>
            <a:r>
              <a:rPr lang="uk-UA" sz="1050" b="0" i="0" noProof="0" dirty="0">
                <a:solidFill>
                  <a:srgbClr val="F7F5F0"/>
                </a:solidFill>
                <a:latin typeface="UAF Sans"/>
              </a:rPr>
              <a:t>Ознак перебування противника не виявлено. У межах </a:t>
            </a:r>
            <a:r>
              <a:rPr lang="uk-UA" sz="1050" b="0" i="0" noProof="0" dirty="0" err="1">
                <a:solidFill>
                  <a:srgbClr val="F7F5F0"/>
                </a:solidFill>
                <a:latin typeface="UAF Sans"/>
              </a:rPr>
              <a:t>н.п</a:t>
            </a:r>
            <a:r>
              <a:rPr lang="uk-UA" sz="1050" b="0" i="0" noProof="0" dirty="0">
                <a:solidFill>
                  <a:srgbClr val="F7F5F0"/>
                </a:solidFill>
                <a:latin typeface="UAF Sans"/>
              </a:rPr>
              <a:t>. ТЕРНУВАТЕ та на його околицях виставлено 11 позицій СОУ.</a:t>
            </a:r>
          </a:p>
        </p:txBody>
      </p:sp>
      <p:sp>
        <p:nvSpPr>
          <p:cNvPr id="31" name="Rectangle 30"/>
          <p:cNvSpPr/>
          <p:nvPr/>
        </p:nvSpPr>
        <p:spPr>
          <a:xfrm>
            <a:off x="7040880" y="1481328"/>
            <a:ext cx="4739640" cy="4468672"/>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33" name="Connector 32"/>
          <p:cNvCxnSpPr/>
          <p:nvPr/>
        </p:nvCxnSpPr>
        <p:spPr>
          <a:xfrm>
            <a:off x="704088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4088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1643360" y="595000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780520" y="581284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40880" y="6040000"/>
            <a:ext cx="5139640" cy="144591"/>
          </a:xfrm>
          <a:prstGeom prst="rect">
            <a:avLst/>
          </a:prstGeom>
          <a:noFill/>
        </p:spPr>
        <p:txBody>
          <a:bodyPr wrap="square" lIns="0" tIns="0" rIns="0" bIns="0" anchor="t">
            <a:spAutoFit/>
          </a:bodyPr>
          <a:lstStyle/>
          <a:p>
            <a:pPr algn="ctr">
              <a:lnSpc>
                <a:spcPct val="118000"/>
              </a:lnSpc>
            </a:pPr>
            <a:r>
              <a:rPr lang="uk-UA" sz="850" spc="120" dirty="0">
                <a:solidFill>
                  <a:srgbClr val="A8A08A"/>
                </a:solidFill>
                <a:latin typeface="UAF Sans SemiBold"/>
              </a:rPr>
              <a:t>ПРОЗИЦІЇ СОУ СТАНОМ НА 20:00 ЗА РЕЗУЛЬТАТАМИ РОБОТИ РГ</a:t>
            </a:r>
            <a:endParaRPr lang="uk-UA" sz="850" b="0" i="0" spc="120" noProof="0" dirty="0">
              <a:solidFill>
                <a:srgbClr val="A8A08A"/>
              </a:solidFill>
              <a:latin typeface="UAF Sans SemiBold"/>
            </a:endParaRPr>
          </a:p>
        </p:txBody>
      </p:sp>
      <p:sp>
        <p:nvSpPr>
          <p:cNvPr id="38" name="TextBox 37"/>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pic>
        <p:nvPicPr>
          <p:cNvPr id="40" name="Рисунок 39">
            <a:extLst>
              <a:ext uri="{FF2B5EF4-FFF2-40B4-BE49-F238E27FC236}">
                <a16:creationId xmlns:a16="http://schemas.microsoft.com/office/drawing/2014/main" id="{E0ABEA82-80E4-7031-3C8D-8B257CCA7934}"/>
              </a:ext>
            </a:extLst>
          </p:cNvPr>
          <p:cNvPicPr>
            <a:picLocks noChangeAspect="1"/>
          </p:cNvPicPr>
          <p:nvPr/>
        </p:nvPicPr>
        <p:blipFill>
          <a:blip r:embed="rId4"/>
          <a:stretch>
            <a:fillRect/>
          </a:stretch>
        </p:blipFill>
        <p:spPr>
          <a:xfrm>
            <a:off x="7178040" y="2096181"/>
            <a:ext cx="4467849" cy="33342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ТЕРНУВАТЕ: РЕЗУЛЬТАТИ ВИКОНАННЯ ЗАВДАННЯ</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Висновок командира в/ч А1445 за період 08.08–04.09.2026</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noProof="0" dirty="0">
                <a:solidFill>
                  <a:srgbClr val="F39200"/>
                </a:solidFill>
                <a:latin typeface="UAF Sans"/>
              </a:rPr>
              <a:t>6</a:t>
            </a:r>
            <a:endParaRPr lang="uk-UA" sz="2200" b="1" i="0" noProof="0" dirty="0">
              <a:solidFill>
                <a:srgbClr val="F39200"/>
              </a:solidFill>
              <a:latin typeface="UAF Sans"/>
            </a:endParaRPr>
          </a:p>
        </p:txBody>
      </p:sp>
      <p:sp>
        <p:nvSpPr>
          <p:cNvPr id="9" name="Rectangle 8"/>
          <p:cNvSpPr/>
          <p:nvPr/>
        </p:nvSpPr>
        <p:spPr>
          <a:xfrm>
            <a:off x="411480" y="1481328"/>
            <a:ext cx="2926080" cy="1487424"/>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0" name="Connector 9"/>
          <p:cNvCxnSpPr/>
          <p:nvPr/>
        </p:nvCxnSpPr>
        <p:spPr>
          <a:xfrm>
            <a:off x="411480" y="1481328"/>
            <a:ext cx="0" cy="1487424"/>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40080" y="1571328"/>
            <a:ext cx="2526080" cy="743712"/>
          </a:xfrm>
          <a:prstGeom prst="rect">
            <a:avLst/>
          </a:prstGeom>
          <a:noFill/>
        </p:spPr>
        <p:txBody>
          <a:bodyPr wrap="square" lIns="0" tIns="0" rIns="0" bIns="0" anchor="ctr">
            <a:spAutoFit/>
          </a:bodyPr>
          <a:lstStyle/>
          <a:p>
            <a:pPr algn="l">
              <a:lnSpc>
                <a:spcPct val="120000"/>
              </a:lnSpc>
            </a:pPr>
            <a:r>
              <a:rPr lang="uk-UA" sz="2800" b="1" i="0" noProof="0" dirty="0">
                <a:solidFill>
                  <a:srgbClr val="F39200"/>
                </a:solidFill>
                <a:latin typeface="UAF Sans"/>
              </a:rPr>
              <a:t>35</a:t>
            </a:r>
          </a:p>
        </p:txBody>
      </p:sp>
      <p:sp>
        <p:nvSpPr>
          <p:cNvPr id="12" name="TextBox 11"/>
          <p:cNvSpPr txBox="1"/>
          <p:nvPr/>
        </p:nvSpPr>
        <p:spPr>
          <a:xfrm>
            <a:off x="640080" y="2265040"/>
            <a:ext cx="2526080" cy="250000"/>
          </a:xfrm>
          <a:prstGeom prst="rect">
            <a:avLst/>
          </a:prstGeom>
          <a:noFill/>
        </p:spPr>
        <p:txBody>
          <a:bodyPr wrap="square" lIns="0" tIns="0" rIns="0" bIns="0" anchor="t">
            <a:spAutoFit/>
          </a:bodyPr>
          <a:lstStyle/>
          <a:p>
            <a:pPr algn="l">
              <a:lnSpc>
                <a:spcPct val="120000"/>
              </a:lnSpc>
            </a:pPr>
            <a:r>
              <a:rPr lang="uk-UA" sz="950" b="0" i="0" spc="150" noProof="0" dirty="0">
                <a:solidFill>
                  <a:srgbClr val="F7F5F0"/>
                </a:solidFill>
                <a:latin typeface="UAF Sans SemiBold"/>
              </a:rPr>
              <a:t>ВИЯВЛЕНО В/С ПРОТИВНИКА</a:t>
            </a:r>
          </a:p>
        </p:txBody>
      </p:sp>
      <p:sp>
        <p:nvSpPr>
          <p:cNvPr id="13" name="TextBox 12"/>
          <p:cNvSpPr txBox="1"/>
          <p:nvPr/>
        </p:nvSpPr>
        <p:spPr>
          <a:xfrm>
            <a:off x="640080" y="2525040"/>
            <a:ext cx="2526080" cy="413712"/>
          </a:xfrm>
          <a:prstGeom prst="rect">
            <a:avLst/>
          </a:prstGeom>
          <a:noFill/>
        </p:spPr>
        <p:txBody>
          <a:bodyPr wrap="square" lIns="0" tIns="0" rIns="0" bIns="0" anchor="t">
            <a:spAutoFit/>
          </a:bodyPr>
          <a:lstStyle/>
          <a:p>
            <a:pPr algn="l">
              <a:lnSpc>
                <a:spcPct val="120000"/>
              </a:lnSpc>
            </a:pPr>
            <a:r>
              <a:rPr lang="uk-UA" sz="1000" b="0" i="0" noProof="0" dirty="0">
                <a:solidFill>
                  <a:srgbClr val="D2CCBC"/>
                </a:solidFill>
                <a:latin typeface="UAF Sans"/>
              </a:rPr>
              <a:t>у районі </a:t>
            </a:r>
            <a:r>
              <a:rPr lang="uk-UA" sz="1000" b="0" i="0" noProof="0" dirty="0" err="1">
                <a:solidFill>
                  <a:srgbClr val="D2CCBC"/>
                </a:solidFill>
                <a:latin typeface="UAF Sans"/>
              </a:rPr>
              <a:t>н.п</a:t>
            </a:r>
            <a:r>
              <a:rPr lang="uk-UA" sz="1000" b="0" i="0" noProof="0" dirty="0">
                <a:solidFill>
                  <a:srgbClr val="D2CCBC"/>
                </a:solidFill>
                <a:latin typeface="UAF Sans"/>
              </a:rPr>
              <a:t>. ТЕРНУВАТЕ та на його околицях</a:t>
            </a:r>
          </a:p>
        </p:txBody>
      </p:sp>
      <p:sp>
        <p:nvSpPr>
          <p:cNvPr id="14" name="Rectangle 13"/>
          <p:cNvSpPr/>
          <p:nvPr/>
        </p:nvSpPr>
        <p:spPr>
          <a:xfrm>
            <a:off x="3520440" y="1481328"/>
            <a:ext cx="2926080" cy="1487424"/>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5" name="Connector 14"/>
          <p:cNvCxnSpPr/>
          <p:nvPr/>
        </p:nvCxnSpPr>
        <p:spPr>
          <a:xfrm>
            <a:off x="3520440" y="1481328"/>
            <a:ext cx="0" cy="1487424"/>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749040" y="1571328"/>
            <a:ext cx="2526080" cy="743712"/>
          </a:xfrm>
          <a:prstGeom prst="rect">
            <a:avLst/>
          </a:prstGeom>
          <a:noFill/>
        </p:spPr>
        <p:txBody>
          <a:bodyPr wrap="square" lIns="0" tIns="0" rIns="0" bIns="0" anchor="ctr">
            <a:spAutoFit/>
          </a:bodyPr>
          <a:lstStyle/>
          <a:p>
            <a:pPr algn="l">
              <a:lnSpc>
                <a:spcPct val="120000"/>
              </a:lnSpc>
            </a:pPr>
            <a:r>
              <a:rPr lang="uk-UA" sz="2800" b="1" i="0" noProof="0" dirty="0">
                <a:solidFill>
                  <a:srgbClr val="F39200"/>
                </a:solidFill>
                <a:latin typeface="UAF Sans"/>
              </a:rPr>
              <a:t>23</a:t>
            </a:r>
          </a:p>
        </p:txBody>
      </p:sp>
      <p:sp>
        <p:nvSpPr>
          <p:cNvPr id="17" name="TextBox 16"/>
          <p:cNvSpPr txBox="1"/>
          <p:nvPr/>
        </p:nvSpPr>
        <p:spPr>
          <a:xfrm>
            <a:off x="3749040" y="2265040"/>
            <a:ext cx="2526080" cy="250000"/>
          </a:xfrm>
          <a:prstGeom prst="rect">
            <a:avLst/>
          </a:prstGeom>
          <a:noFill/>
        </p:spPr>
        <p:txBody>
          <a:bodyPr wrap="square" lIns="0" tIns="0" rIns="0" bIns="0" anchor="t">
            <a:spAutoFit/>
          </a:bodyPr>
          <a:lstStyle/>
          <a:p>
            <a:pPr algn="l">
              <a:lnSpc>
                <a:spcPct val="120000"/>
              </a:lnSpc>
            </a:pPr>
            <a:r>
              <a:rPr lang="uk-UA" sz="950" b="0" i="0" spc="150" noProof="0" dirty="0">
                <a:solidFill>
                  <a:srgbClr val="F7F5F0"/>
                </a:solidFill>
                <a:latin typeface="UAF Sans SemiBold"/>
              </a:rPr>
              <a:t>ЗНИЩЕНО</a:t>
            </a:r>
          </a:p>
        </p:txBody>
      </p:sp>
      <p:sp>
        <p:nvSpPr>
          <p:cNvPr id="18" name="TextBox 17"/>
          <p:cNvSpPr txBox="1"/>
          <p:nvPr/>
        </p:nvSpPr>
        <p:spPr>
          <a:xfrm>
            <a:off x="3749040" y="2525040"/>
            <a:ext cx="2526080" cy="413712"/>
          </a:xfrm>
          <a:prstGeom prst="rect">
            <a:avLst/>
          </a:prstGeom>
          <a:noFill/>
        </p:spPr>
        <p:txBody>
          <a:bodyPr wrap="square" lIns="0" tIns="0" rIns="0" bIns="0" anchor="t">
            <a:spAutoFit/>
          </a:bodyPr>
          <a:lstStyle/>
          <a:p>
            <a:pPr algn="l">
              <a:lnSpc>
                <a:spcPct val="120000"/>
              </a:lnSpc>
            </a:pPr>
            <a:r>
              <a:rPr lang="uk-UA" sz="1000" b="0" i="0" noProof="0" dirty="0">
                <a:solidFill>
                  <a:srgbClr val="D2CCBC"/>
                </a:solidFill>
                <a:latin typeface="UAF Sans"/>
              </a:rPr>
              <a:t>ймовірно ще 8 в/с під завалами (без підтвердження)</a:t>
            </a:r>
          </a:p>
        </p:txBody>
      </p:sp>
      <p:sp>
        <p:nvSpPr>
          <p:cNvPr id="19" name="Rectangle 18"/>
          <p:cNvSpPr/>
          <p:nvPr/>
        </p:nvSpPr>
        <p:spPr>
          <a:xfrm>
            <a:off x="411480" y="3151632"/>
            <a:ext cx="2926080" cy="1487424"/>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20" name="Connector 19"/>
          <p:cNvCxnSpPr/>
          <p:nvPr/>
        </p:nvCxnSpPr>
        <p:spPr>
          <a:xfrm>
            <a:off x="411480" y="3151632"/>
            <a:ext cx="0" cy="1487424"/>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40080" y="3241632"/>
            <a:ext cx="2526080" cy="743712"/>
          </a:xfrm>
          <a:prstGeom prst="rect">
            <a:avLst/>
          </a:prstGeom>
          <a:noFill/>
        </p:spPr>
        <p:txBody>
          <a:bodyPr wrap="square" lIns="0" tIns="0" rIns="0" bIns="0" anchor="ctr">
            <a:spAutoFit/>
          </a:bodyPr>
          <a:lstStyle/>
          <a:p>
            <a:pPr algn="l">
              <a:lnSpc>
                <a:spcPct val="120000"/>
              </a:lnSpc>
            </a:pPr>
            <a:r>
              <a:rPr lang="uk-UA" sz="2800" b="1" i="0" noProof="0" dirty="0">
                <a:solidFill>
                  <a:srgbClr val="F39200"/>
                </a:solidFill>
                <a:latin typeface="UAF Sans"/>
              </a:rPr>
              <a:t>4</a:t>
            </a:r>
          </a:p>
        </p:txBody>
      </p:sp>
      <p:sp>
        <p:nvSpPr>
          <p:cNvPr id="22" name="TextBox 21"/>
          <p:cNvSpPr txBox="1"/>
          <p:nvPr/>
        </p:nvSpPr>
        <p:spPr>
          <a:xfrm>
            <a:off x="640080" y="3935344"/>
            <a:ext cx="2526080" cy="250000"/>
          </a:xfrm>
          <a:prstGeom prst="rect">
            <a:avLst/>
          </a:prstGeom>
          <a:noFill/>
        </p:spPr>
        <p:txBody>
          <a:bodyPr wrap="square" lIns="0" tIns="0" rIns="0" bIns="0" anchor="t">
            <a:spAutoFit/>
          </a:bodyPr>
          <a:lstStyle/>
          <a:p>
            <a:pPr algn="l">
              <a:lnSpc>
                <a:spcPct val="120000"/>
              </a:lnSpc>
            </a:pPr>
            <a:r>
              <a:rPr lang="uk-UA" sz="950" b="0" i="0" spc="150" noProof="0" dirty="0">
                <a:solidFill>
                  <a:srgbClr val="F7F5F0"/>
                </a:solidFill>
                <a:latin typeface="UAF Sans SemiBold"/>
              </a:rPr>
              <a:t>ВЗЯТО В ПОЛОН</a:t>
            </a:r>
          </a:p>
        </p:txBody>
      </p:sp>
      <p:sp>
        <p:nvSpPr>
          <p:cNvPr id="23" name="TextBox 22"/>
          <p:cNvSpPr txBox="1"/>
          <p:nvPr/>
        </p:nvSpPr>
        <p:spPr>
          <a:xfrm>
            <a:off x="640080" y="4195344"/>
            <a:ext cx="2526080" cy="413712"/>
          </a:xfrm>
          <a:prstGeom prst="rect">
            <a:avLst/>
          </a:prstGeom>
          <a:noFill/>
        </p:spPr>
        <p:txBody>
          <a:bodyPr wrap="square" lIns="0" tIns="0" rIns="0" bIns="0" anchor="t">
            <a:spAutoFit/>
          </a:bodyPr>
          <a:lstStyle/>
          <a:p>
            <a:pPr algn="l">
              <a:lnSpc>
                <a:spcPct val="120000"/>
              </a:lnSpc>
            </a:pPr>
            <a:r>
              <a:rPr lang="uk-UA" sz="1000" b="0" i="0" noProof="0" dirty="0">
                <a:solidFill>
                  <a:srgbClr val="D2CCBC"/>
                </a:solidFill>
                <a:latin typeface="UAF Sans"/>
              </a:rPr>
              <a:t>1 в/с загинув під час виводу від вогню противника</a:t>
            </a:r>
          </a:p>
        </p:txBody>
      </p:sp>
      <p:sp>
        <p:nvSpPr>
          <p:cNvPr id="24" name="Rectangle 23"/>
          <p:cNvSpPr/>
          <p:nvPr/>
        </p:nvSpPr>
        <p:spPr>
          <a:xfrm>
            <a:off x="3520440" y="3151632"/>
            <a:ext cx="2926080" cy="1487424"/>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25" name="Connector 24"/>
          <p:cNvCxnSpPr/>
          <p:nvPr/>
        </p:nvCxnSpPr>
        <p:spPr>
          <a:xfrm>
            <a:off x="3520440" y="3151632"/>
            <a:ext cx="0" cy="1487424"/>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749040" y="3241632"/>
            <a:ext cx="2526080" cy="743712"/>
          </a:xfrm>
          <a:prstGeom prst="rect">
            <a:avLst/>
          </a:prstGeom>
          <a:noFill/>
        </p:spPr>
        <p:txBody>
          <a:bodyPr wrap="square" lIns="0" tIns="0" rIns="0" bIns="0" anchor="ctr">
            <a:spAutoFit/>
          </a:bodyPr>
          <a:lstStyle/>
          <a:p>
            <a:pPr algn="l">
              <a:lnSpc>
                <a:spcPct val="120000"/>
              </a:lnSpc>
            </a:pPr>
            <a:r>
              <a:rPr lang="uk-UA" sz="2800" b="1" i="0" noProof="0" dirty="0">
                <a:solidFill>
                  <a:srgbClr val="F39200"/>
                </a:solidFill>
                <a:latin typeface="UAF Sans"/>
              </a:rPr>
              <a:t>46</a:t>
            </a:r>
          </a:p>
        </p:txBody>
      </p:sp>
      <p:sp>
        <p:nvSpPr>
          <p:cNvPr id="27" name="TextBox 26"/>
          <p:cNvSpPr txBox="1"/>
          <p:nvPr/>
        </p:nvSpPr>
        <p:spPr>
          <a:xfrm>
            <a:off x="3749040" y="3935344"/>
            <a:ext cx="2526080" cy="250000"/>
          </a:xfrm>
          <a:prstGeom prst="rect">
            <a:avLst/>
          </a:prstGeom>
          <a:noFill/>
        </p:spPr>
        <p:txBody>
          <a:bodyPr wrap="square" lIns="0" tIns="0" rIns="0" bIns="0" anchor="t">
            <a:spAutoFit/>
          </a:bodyPr>
          <a:lstStyle/>
          <a:p>
            <a:pPr algn="l">
              <a:lnSpc>
                <a:spcPct val="120000"/>
              </a:lnSpc>
            </a:pPr>
            <a:r>
              <a:rPr lang="uk-UA" sz="950" b="0" i="0" spc="150" noProof="0" dirty="0">
                <a:solidFill>
                  <a:srgbClr val="F7F5F0"/>
                </a:solidFill>
                <a:latin typeface="UAF Sans SemiBold"/>
              </a:rPr>
              <a:t>УКРИТТІВ УРАЖЕНО</a:t>
            </a:r>
          </a:p>
        </p:txBody>
      </p:sp>
      <p:sp>
        <p:nvSpPr>
          <p:cNvPr id="28" name="TextBox 27"/>
          <p:cNvSpPr txBox="1"/>
          <p:nvPr/>
        </p:nvSpPr>
        <p:spPr>
          <a:xfrm>
            <a:off x="3749040" y="4195344"/>
            <a:ext cx="2526080" cy="413712"/>
          </a:xfrm>
          <a:prstGeom prst="rect">
            <a:avLst/>
          </a:prstGeom>
          <a:noFill/>
        </p:spPr>
        <p:txBody>
          <a:bodyPr wrap="square" lIns="0" tIns="0" rIns="0" bIns="0" anchor="t">
            <a:spAutoFit/>
          </a:bodyPr>
          <a:lstStyle/>
          <a:p>
            <a:pPr algn="l">
              <a:lnSpc>
                <a:spcPct val="120000"/>
              </a:lnSpc>
            </a:pPr>
            <a:r>
              <a:rPr lang="uk-UA" sz="1000" b="0" i="0" noProof="0" dirty="0">
                <a:solidFill>
                  <a:srgbClr val="D2CCBC"/>
                </a:solidFill>
                <a:latin typeface="UAF Sans"/>
              </a:rPr>
              <a:t>після ураження активність противника не відмічалась</a:t>
            </a:r>
          </a:p>
        </p:txBody>
      </p:sp>
      <p:sp>
        <p:nvSpPr>
          <p:cNvPr id="29" name="Rectangle 28"/>
          <p:cNvSpPr/>
          <p:nvPr/>
        </p:nvSpPr>
        <p:spPr>
          <a:xfrm>
            <a:off x="411480" y="4821936"/>
            <a:ext cx="2926080" cy="1487424"/>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30" name="Connector 29"/>
          <p:cNvCxnSpPr/>
          <p:nvPr/>
        </p:nvCxnSpPr>
        <p:spPr>
          <a:xfrm>
            <a:off x="411480" y="4821936"/>
            <a:ext cx="0" cy="1487424"/>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40080" y="4911936"/>
            <a:ext cx="2526080" cy="743712"/>
          </a:xfrm>
          <a:prstGeom prst="rect">
            <a:avLst/>
          </a:prstGeom>
          <a:noFill/>
        </p:spPr>
        <p:txBody>
          <a:bodyPr wrap="square" lIns="0" tIns="0" rIns="0" bIns="0" anchor="ctr">
            <a:spAutoFit/>
          </a:bodyPr>
          <a:lstStyle/>
          <a:p>
            <a:pPr algn="l">
              <a:lnSpc>
                <a:spcPct val="120000"/>
              </a:lnSpc>
            </a:pPr>
            <a:r>
              <a:rPr lang="uk-UA" sz="2800" b="1" i="0" noProof="0" dirty="0">
                <a:solidFill>
                  <a:srgbClr val="F39200"/>
                </a:solidFill>
                <a:latin typeface="UAF Sans"/>
              </a:rPr>
              <a:t>11</a:t>
            </a:r>
          </a:p>
        </p:txBody>
      </p:sp>
      <p:sp>
        <p:nvSpPr>
          <p:cNvPr id="32" name="TextBox 31"/>
          <p:cNvSpPr txBox="1"/>
          <p:nvPr/>
        </p:nvSpPr>
        <p:spPr>
          <a:xfrm>
            <a:off x="640080" y="5605648"/>
            <a:ext cx="2526080" cy="250000"/>
          </a:xfrm>
          <a:prstGeom prst="rect">
            <a:avLst/>
          </a:prstGeom>
          <a:noFill/>
        </p:spPr>
        <p:txBody>
          <a:bodyPr wrap="square" lIns="0" tIns="0" rIns="0" bIns="0" anchor="t">
            <a:spAutoFit/>
          </a:bodyPr>
          <a:lstStyle/>
          <a:p>
            <a:pPr algn="l">
              <a:lnSpc>
                <a:spcPct val="120000"/>
              </a:lnSpc>
            </a:pPr>
            <a:r>
              <a:rPr lang="uk-UA" sz="950" b="0" i="0" spc="150" noProof="0" dirty="0">
                <a:solidFill>
                  <a:srgbClr val="F7F5F0"/>
                </a:solidFill>
                <a:latin typeface="UAF Sans SemiBold"/>
              </a:rPr>
              <a:t>ПОЗИЦІЙ СОУ ВИСТАВЛЕНО</a:t>
            </a:r>
          </a:p>
        </p:txBody>
      </p:sp>
      <p:sp>
        <p:nvSpPr>
          <p:cNvPr id="33" name="TextBox 32"/>
          <p:cNvSpPr txBox="1"/>
          <p:nvPr/>
        </p:nvSpPr>
        <p:spPr>
          <a:xfrm>
            <a:off x="640080" y="5865648"/>
            <a:ext cx="2526080" cy="413712"/>
          </a:xfrm>
          <a:prstGeom prst="rect">
            <a:avLst/>
          </a:prstGeom>
          <a:noFill/>
        </p:spPr>
        <p:txBody>
          <a:bodyPr wrap="square" lIns="0" tIns="0" rIns="0" bIns="0" anchor="t">
            <a:spAutoFit/>
          </a:bodyPr>
          <a:lstStyle/>
          <a:p>
            <a:pPr algn="l">
              <a:lnSpc>
                <a:spcPct val="120000"/>
              </a:lnSpc>
            </a:pPr>
            <a:r>
              <a:rPr lang="uk-UA" sz="1000" b="0" i="0" noProof="0" dirty="0">
                <a:solidFill>
                  <a:srgbClr val="D2CCBC"/>
                </a:solidFill>
                <a:latin typeface="UAF Sans"/>
              </a:rPr>
              <a:t>131 </a:t>
            </a:r>
            <a:r>
              <a:rPr lang="uk-UA" sz="1000" b="0" i="0" noProof="0" dirty="0" err="1">
                <a:solidFill>
                  <a:srgbClr val="D2CCBC"/>
                </a:solidFill>
                <a:latin typeface="UAF Sans"/>
              </a:rPr>
              <a:t>орб</a:t>
            </a:r>
            <a:r>
              <a:rPr lang="uk-UA" sz="1000" b="0" i="0" noProof="0" dirty="0">
                <a:solidFill>
                  <a:srgbClr val="D2CCBC"/>
                </a:solidFill>
                <a:latin typeface="UAF Sans"/>
              </a:rPr>
              <a:t> — 2, 225 </a:t>
            </a:r>
            <a:r>
              <a:rPr lang="uk-UA" sz="1000" b="0" i="0" noProof="0" dirty="0" err="1">
                <a:solidFill>
                  <a:srgbClr val="D2CCBC"/>
                </a:solidFill>
                <a:latin typeface="UAF Sans"/>
              </a:rPr>
              <a:t>ошп</a:t>
            </a:r>
            <a:r>
              <a:rPr lang="uk-UA" sz="1000" b="0" i="0" noProof="0" dirty="0">
                <a:solidFill>
                  <a:srgbClr val="D2CCBC"/>
                </a:solidFill>
                <a:latin typeface="UAF Sans"/>
              </a:rPr>
              <a:t> — 8, 107 обр </a:t>
            </a:r>
            <a:r>
              <a:rPr lang="uk-UA" sz="1000" b="0" i="0" noProof="0" dirty="0" err="1">
                <a:solidFill>
                  <a:srgbClr val="D2CCBC"/>
                </a:solidFill>
                <a:latin typeface="UAF Sans"/>
              </a:rPr>
              <a:t>ТрО</a:t>
            </a:r>
            <a:r>
              <a:rPr lang="uk-UA" sz="1000" b="0" i="0" noProof="0" dirty="0">
                <a:solidFill>
                  <a:srgbClr val="D2CCBC"/>
                </a:solidFill>
                <a:latin typeface="UAF Sans"/>
              </a:rPr>
              <a:t> — 1</a:t>
            </a:r>
          </a:p>
        </p:txBody>
      </p:sp>
      <p:sp>
        <p:nvSpPr>
          <p:cNvPr id="34" name="Rectangle 33"/>
          <p:cNvSpPr/>
          <p:nvPr/>
        </p:nvSpPr>
        <p:spPr>
          <a:xfrm>
            <a:off x="3520440" y="4821936"/>
            <a:ext cx="2926080" cy="1487424"/>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35" name="Connector 34"/>
          <p:cNvCxnSpPr/>
          <p:nvPr/>
        </p:nvCxnSpPr>
        <p:spPr>
          <a:xfrm>
            <a:off x="3520440" y="4821936"/>
            <a:ext cx="0" cy="1487424"/>
          </a:xfrm>
          <a:prstGeom prst="line">
            <a:avLst/>
          </a:prstGeom>
          <a:ln w="28575">
            <a:solidFill>
              <a:srgbClr val="F3920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49040" y="4911936"/>
            <a:ext cx="2526080" cy="743712"/>
          </a:xfrm>
          <a:prstGeom prst="rect">
            <a:avLst/>
          </a:prstGeom>
          <a:noFill/>
        </p:spPr>
        <p:txBody>
          <a:bodyPr wrap="square" lIns="0" tIns="0" rIns="0" bIns="0" anchor="ctr">
            <a:spAutoFit/>
          </a:bodyPr>
          <a:lstStyle/>
          <a:p>
            <a:pPr algn="l">
              <a:lnSpc>
                <a:spcPct val="120000"/>
              </a:lnSpc>
            </a:pPr>
            <a:r>
              <a:rPr lang="uk-UA" sz="2800" b="1" i="0" noProof="0" dirty="0">
                <a:solidFill>
                  <a:srgbClr val="F39200"/>
                </a:solidFill>
                <a:latin typeface="UAF Sans"/>
              </a:rPr>
              <a:t>20</a:t>
            </a:r>
          </a:p>
        </p:txBody>
      </p:sp>
      <p:sp>
        <p:nvSpPr>
          <p:cNvPr id="37" name="TextBox 36"/>
          <p:cNvSpPr txBox="1"/>
          <p:nvPr/>
        </p:nvSpPr>
        <p:spPr>
          <a:xfrm>
            <a:off x="3749040" y="5605648"/>
            <a:ext cx="2526080" cy="250000"/>
          </a:xfrm>
          <a:prstGeom prst="rect">
            <a:avLst/>
          </a:prstGeom>
          <a:noFill/>
        </p:spPr>
        <p:txBody>
          <a:bodyPr wrap="square" lIns="0" tIns="0" rIns="0" bIns="0" anchor="t">
            <a:spAutoFit/>
          </a:bodyPr>
          <a:lstStyle/>
          <a:p>
            <a:pPr algn="l">
              <a:lnSpc>
                <a:spcPct val="120000"/>
              </a:lnSpc>
            </a:pPr>
            <a:r>
              <a:rPr lang="uk-UA" sz="950" b="0" i="0" spc="150" noProof="0" dirty="0">
                <a:solidFill>
                  <a:srgbClr val="F7F5F0"/>
                </a:solidFill>
                <a:latin typeface="UAF Sans SemiBold"/>
              </a:rPr>
              <a:t>ДІБ РПД</a:t>
            </a:r>
          </a:p>
        </p:txBody>
      </p:sp>
      <p:sp>
        <p:nvSpPr>
          <p:cNvPr id="38" name="TextBox 37"/>
          <p:cNvSpPr txBox="1"/>
          <p:nvPr/>
        </p:nvSpPr>
        <p:spPr>
          <a:xfrm>
            <a:off x="3749040" y="5865648"/>
            <a:ext cx="2526080" cy="359073"/>
          </a:xfrm>
          <a:prstGeom prst="rect">
            <a:avLst/>
          </a:prstGeom>
          <a:noFill/>
        </p:spPr>
        <p:txBody>
          <a:bodyPr wrap="square" lIns="0" tIns="0" rIns="0" bIns="0" anchor="t">
            <a:spAutoFit/>
          </a:bodyPr>
          <a:lstStyle/>
          <a:p>
            <a:pPr algn="l">
              <a:lnSpc>
                <a:spcPct val="120000"/>
              </a:lnSpc>
            </a:pPr>
            <a:r>
              <a:rPr lang="uk-UA" sz="1000" b="0" i="0" noProof="0" dirty="0">
                <a:solidFill>
                  <a:srgbClr val="D2CCBC"/>
                </a:solidFill>
                <a:latin typeface="UAF Sans"/>
              </a:rPr>
              <a:t>16.08–04.09.2026; ознак перебування противника не виявлено</a:t>
            </a:r>
          </a:p>
        </p:txBody>
      </p:sp>
      <p:sp>
        <p:nvSpPr>
          <p:cNvPr id="39" name="Rectangle 38"/>
          <p:cNvSpPr/>
          <p:nvPr/>
        </p:nvSpPr>
        <p:spPr>
          <a:xfrm>
            <a:off x="6812280" y="1481328"/>
            <a:ext cx="4968240" cy="4468672"/>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pic>
        <p:nvPicPr>
          <p:cNvPr id="40" name="Picture 39" descr="image.jpg"/>
          <p:cNvPicPr>
            <a:picLocks noChangeAspect="1"/>
          </p:cNvPicPr>
          <p:nvPr/>
        </p:nvPicPr>
        <p:blipFill>
          <a:blip r:embed="rId4"/>
          <a:stretch>
            <a:fillRect/>
          </a:stretch>
        </p:blipFill>
        <p:spPr>
          <a:xfrm>
            <a:off x="6894576" y="1703746"/>
            <a:ext cx="4803648" cy="4023835"/>
          </a:xfrm>
          <a:prstGeom prst="rect">
            <a:avLst/>
          </a:prstGeom>
        </p:spPr>
      </p:pic>
      <p:cxnSp>
        <p:nvCxnSpPr>
          <p:cNvPr id="41" name="Connector 40"/>
          <p:cNvCxnSpPr/>
          <p:nvPr/>
        </p:nvCxnSpPr>
        <p:spPr>
          <a:xfrm>
            <a:off x="681228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81228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1643360" y="595000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780520" y="581284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612280" y="6040000"/>
            <a:ext cx="5368240" cy="300000"/>
          </a:xfrm>
          <a:prstGeom prst="rect">
            <a:avLst/>
          </a:prstGeom>
          <a:noFill/>
        </p:spPr>
        <p:txBody>
          <a:bodyPr wrap="square" lIns="0" tIns="0" rIns="0" bIns="0" anchor="t">
            <a:spAutoFit/>
          </a:bodyPr>
          <a:lstStyle/>
          <a:p>
            <a:pPr algn="ctr">
              <a:lnSpc>
                <a:spcPct val="118000"/>
              </a:lnSpc>
            </a:pPr>
            <a:r>
              <a:rPr lang="uk-UA" sz="850" b="0" i="0" spc="120" noProof="0" dirty="0">
                <a:solidFill>
                  <a:srgbClr val="A8A08A"/>
                </a:solidFill>
                <a:latin typeface="UAF Sans SemiBold"/>
              </a:rPr>
              <a:t>ПОЗИЦІЇ СОУ В Н.П. ТЕРНУВАТЕ СТАНОМ НА 04.09.2026</a:t>
            </a:r>
          </a:p>
        </p:txBody>
      </p:sp>
      <p:sp>
        <p:nvSpPr>
          <p:cNvPr id="46" name="TextBox 45"/>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rcRect l="11361" t="15000" r="12250" b="8077"/>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0" y="0"/>
            <a:ext cx="12192000" cy="6858000"/>
          </a:xfrm>
          <a:prstGeom prst="rect">
            <a:avLst/>
          </a:prstGeom>
        </p:spPr>
      </p:pic>
      <p:sp>
        <p:nvSpPr>
          <p:cNvPr id="5" name="TextBox 4"/>
          <p:cNvSpPr txBox="1"/>
          <p:nvPr/>
        </p:nvSpPr>
        <p:spPr>
          <a:xfrm>
            <a:off x="502920" y="300000"/>
            <a:ext cx="4572000" cy="1700000"/>
          </a:xfrm>
          <a:prstGeom prst="rect">
            <a:avLst/>
          </a:prstGeom>
          <a:noFill/>
        </p:spPr>
        <p:txBody>
          <a:bodyPr wrap="square" lIns="0" tIns="0" rIns="0" bIns="0" anchor="t">
            <a:spAutoFit/>
          </a:bodyPr>
          <a:lstStyle/>
          <a:p>
            <a:pPr algn="l">
              <a:lnSpc>
                <a:spcPct val="100000"/>
              </a:lnSpc>
            </a:pPr>
            <a:r>
              <a:rPr lang="uk-UA" sz="12000" b="1" i="0" noProof="0" dirty="0">
                <a:solidFill>
                  <a:srgbClr val="3A3527"/>
                </a:solidFill>
                <a:latin typeface="UAF Sans"/>
              </a:rPr>
              <a:t>02</a:t>
            </a:r>
          </a:p>
        </p:txBody>
      </p:sp>
      <p:cxnSp>
        <p:nvCxnSpPr>
          <p:cNvPr id="6" name="Connector 5"/>
          <p:cNvCxnSpPr/>
          <p:nvPr/>
        </p:nvCxnSpPr>
        <p:spPr>
          <a:xfrm>
            <a:off x="822960" y="239572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22960" y="2395728"/>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168895" y="239572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79" y="2395728"/>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 y="440359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 y="4074414"/>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168895" y="440359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79" y="4074414"/>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70432" y="2615184"/>
            <a:ext cx="5943600" cy="310896"/>
          </a:xfrm>
          <a:prstGeom prst="rect">
            <a:avLst/>
          </a:prstGeom>
          <a:noFill/>
        </p:spPr>
        <p:txBody>
          <a:bodyPr wrap="square" lIns="0" tIns="0" rIns="0" bIns="0" anchor="t">
            <a:spAutoFit/>
          </a:bodyPr>
          <a:lstStyle/>
          <a:p>
            <a:pPr algn="l">
              <a:lnSpc>
                <a:spcPct val="120000"/>
              </a:lnSpc>
            </a:pPr>
            <a:r>
              <a:rPr lang="uk-UA" sz="1300" b="0" i="0" spc="320" noProof="0" dirty="0">
                <a:solidFill>
                  <a:srgbClr val="F39200"/>
                </a:solidFill>
                <a:latin typeface="UAF Sans SemiBold"/>
              </a:rPr>
              <a:t>ПИТАННЯ II</a:t>
            </a:r>
          </a:p>
        </p:txBody>
      </p:sp>
      <p:sp>
        <p:nvSpPr>
          <p:cNvPr id="15" name="TextBox 14"/>
          <p:cNvSpPr txBox="1"/>
          <p:nvPr/>
        </p:nvSpPr>
        <p:spPr>
          <a:xfrm>
            <a:off x="1170432" y="3017520"/>
            <a:ext cx="5943600" cy="1060704"/>
          </a:xfrm>
          <a:prstGeom prst="rect">
            <a:avLst/>
          </a:prstGeom>
          <a:noFill/>
        </p:spPr>
        <p:txBody>
          <a:bodyPr wrap="square" lIns="0" tIns="0" rIns="0" bIns="0" anchor="ctr">
            <a:spAutoFit/>
          </a:bodyPr>
          <a:lstStyle/>
          <a:p>
            <a:pPr algn="l">
              <a:lnSpc>
                <a:spcPct val="110000"/>
              </a:lnSpc>
            </a:pPr>
            <a:r>
              <a:rPr lang="uk-UA" sz="2600" b="1" i="0" spc="80" noProof="0" dirty="0">
                <a:solidFill>
                  <a:srgbClr val="F7F5F0"/>
                </a:solidFill>
                <a:latin typeface="UAF Sans"/>
              </a:rPr>
              <a:t>ОСОБЛИВОСТІ, ЩО</a:t>
            </a:r>
          </a:p>
          <a:p>
            <a:pPr algn="l">
              <a:lnSpc>
                <a:spcPct val="110000"/>
              </a:lnSpc>
              <a:spcBef>
                <a:spcPts val="0"/>
              </a:spcBef>
            </a:pPr>
            <a:r>
              <a:rPr lang="uk-UA" sz="2600" b="1" i="0" spc="80" noProof="0" dirty="0">
                <a:solidFill>
                  <a:srgbClr val="F7F5F0"/>
                </a:solidFill>
                <a:latin typeface="UAF Sans"/>
              </a:rPr>
              <a:t>ВПЛИНУЛИ НА РЕЗУЛЬТАТ</a:t>
            </a:r>
          </a:p>
        </p:txBody>
      </p:sp>
      <p:cxnSp>
        <p:nvCxnSpPr>
          <p:cNvPr id="17" name="Connector 16"/>
          <p:cNvCxnSpPr/>
          <p:nvPr/>
        </p:nvCxnSpPr>
        <p:spPr>
          <a:xfrm>
            <a:off x="7818120" y="1481328"/>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18120" y="1481328"/>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440040" y="1481328"/>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50936" y="1481328"/>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18120" y="5376672"/>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18120" y="5065776"/>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440040" y="5376672"/>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750936" y="5065776"/>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250000" y="6500837"/>
            <a:ext cx="5000000" cy="165686"/>
          </a:xfrm>
          <a:prstGeom prst="rect">
            <a:avLst/>
          </a:prstGeom>
          <a:noFill/>
        </p:spPr>
        <p:txBody>
          <a:bodyPr wrap="square" lIns="0" tIns="0" rIns="0" bIns="0" anchor="ctr">
            <a:spAutoFit/>
          </a:bodyPr>
          <a:lstStyle/>
          <a:p>
            <a:pPr algn="l">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503096"/>
            <a:ext cx="9461539" cy="383695"/>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ОБРАНИЙ СПОСІБ ДІЙ</a:t>
            </a:r>
          </a:p>
        </p:txBody>
      </p:sp>
      <p:sp>
        <p:nvSpPr>
          <p:cNvPr id="6" name="TextBox 5"/>
          <p:cNvSpPr txBox="1"/>
          <p:nvPr/>
        </p:nvSpPr>
        <p:spPr>
          <a:xfrm>
            <a:off x="1428901" y="997420"/>
            <a:ext cx="9461539" cy="218008"/>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Позитивний досвід виконання завдань в районі </a:t>
            </a:r>
            <a:r>
              <a:rPr lang="uk-UA" sz="1250" b="0" i="0" noProof="0" dirty="0" err="1">
                <a:solidFill>
                  <a:srgbClr val="D2CCBC"/>
                </a:solidFill>
                <a:latin typeface="UAF Sans"/>
              </a:rPr>
              <a:t>н.п</a:t>
            </a:r>
            <a:r>
              <a:rPr lang="uk-UA" sz="1250" b="0" i="0" noProof="0" dirty="0">
                <a:solidFill>
                  <a:srgbClr val="D2CCBC"/>
                </a:solidFill>
                <a:latin typeface="UAF Sans"/>
              </a:rPr>
              <a:t>. ТЕРНУВАТЕ</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i="0" dirty="0">
                <a:solidFill>
                  <a:srgbClr val="F39200"/>
                </a:solidFill>
                <a:latin typeface="UAF Sans"/>
              </a:rPr>
              <a:t>8</a:t>
            </a:r>
            <a:endParaRPr lang="uk-UA" sz="2200" b="1" i="0" noProof="0" dirty="0">
              <a:solidFill>
                <a:srgbClr val="F39200"/>
              </a:solidFill>
              <a:latin typeface="UAF Sans"/>
            </a:endParaRPr>
          </a:p>
        </p:txBody>
      </p:sp>
      <p:sp>
        <p:nvSpPr>
          <p:cNvPr id="9" name="Rectangle 8"/>
          <p:cNvSpPr/>
          <p:nvPr/>
        </p:nvSpPr>
        <p:spPr>
          <a:xfrm>
            <a:off x="411480" y="1481328"/>
            <a:ext cx="366776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0" name="Connector 9"/>
          <p:cNvCxnSpPr/>
          <p:nvPr/>
        </p:nvCxnSpPr>
        <p:spPr>
          <a:xfrm>
            <a:off x="41148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1148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4208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07924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1480" y="1631328"/>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01</a:t>
            </a:r>
          </a:p>
        </p:txBody>
      </p:sp>
      <p:sp>
        <p:nvSpPr>
          <p:cNvPr id="15" name="TextBox 14"/>
          <p:cNvSpPr txBox="1"/>
          <p:nvPr/>
        </p:nvSpPr>
        <p:spPr>
          <a:xfrm>
            <a:off x="1311480" y="1631328"/>
            <a:ext cx="256776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МАЛОЧИСЕЛЬНІ РГ З РЕЗЕРВОМ</a:t>
            </a:r>
          </a:p>
        </p:txBody>
      </p:sp>
      <p:cxnSp>
        <p:nvCxnSpPr>
          <p:cNvPr id="16" name="Connector 15"/>
          <p:cNvCxnSpPr/>
          <p:nvPr/>
        </p:nvCxnSpPr>
        <p:spPr>
          <a:xfrm>
            <a:off x="611480" y="2141328"/>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1480" y="2241328"/>
            <a:ext cx="3267760" cy="1472576"/>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РГ складом 3–4 в/с забезпечували скритність від повітряної розвідки противника. Після евакуації поранених заведено резервну РГ “КОНГО”, РПД не припинялись.</a:t>
            </a:r>
          </a:p>
        </p:txBody>
      </p:sp>
      <p:sp>
        <p:nvSpPr>
          <p:cNvPr id="18" name="Rectangle 17"/>
          <p:cNvSpPr/>
          <p:nvPr/>
        </p:nvSpPr>
        <p:spPr>
          <a:xfrm>
            <a:off x="4262120" y="1481328"/>
            <a:ext cx="366776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9" name="Connector 18"/>
          <p:cNvCxnSpPr/>
          <p:nvPr/>
        </p:nvCxnSpPr>
        <p:spPr>
          <a:xfrm>
            <a:off x="426212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6212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9272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2988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462120" y="1631328"/>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02</a:t>
            </a:r>
          </a:p>
        </p:txBody>
      </p:sp>
      <p:sp>
        <p:nvSpPr>
          <p:cNvPr id="24" name="TextBox 23"/>
          <p:cNvSpPr txBox="1"/>
          <p:nvPr/>
        </p:nvSpPr>
        <p:spPr>
          <a:xfrm>
            <a:off x="5162120" y="1748867"/>
            <a:ext cx="2567760" cy="184922"/>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ПОВІТРЯНИЙ СУПРОВІД </a:t>
            </a:r>
          </a:p>
        </p:txBody>
      </p:sp>
      <p:cxnSp>
        <p:nvCxnSpPr>
          <p:cNvPr id="25" name="Connector 24"/>
          <p:cNvCxnSpPr/>
          <p:nvPr/>
        </p:nvCxnSpPr>
        <p:spPr>
          <a:xfrm>
            <a:off x="4462120" y="2141328"/>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462120" y="2241328"/>
            <a:ext cx="3267760" cy="1472576"/>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Переміщення кожної РГ здійснювалось під супроводом </a:t>
            </a:r>
            <a:r>
              <a:rPr lang="uk-UA" sz="1200" b="0" i="0" noProof="0" dirty="0" err="1">
                <a:solidFill>
                  <a:srgbClr val="D2CCBC"/>
                </a:solidFill>
                <a:latin typeface="UAF Sans"/>
              </a:rPr>
              <a:t>БпЛА</a:t>
            </a:r>
            <a:r>
              <a:rPr lang="uk-UA" sz="1200" b="0" i="0" noProof="0" dirty="0">
                <a:solidFill>
                  <a:srgbClr val="D2CCBC"/>
                </a:solidFill>
                <a:latin typeface="UAF Sans"/>
              </a:rPr>
              <a:t> </a:t>
            </a:r>
            <a:r>
              <a:rPr lang="uk-UA" sz="1200" b="0" i="0" noProof="0" dirty="0" err="1">
                <a:solidFill>
                  <a:srgbClr val="D2CCBC"/>
                </a:solidFill>
                <a:latin typeface="UAF Sans"/>
              </a:rPr>
              <a:t>квадрокоптерного</a:t>
            </a:r>
            <a:r>
              <a:rPr lang="uk-UA" sz="1200" b="0" i="0" noProof="0" dirty="0">
                <a:solidFill>
                  <a:srgbClr val="D2CCBC"/>
                </a:solidFill>
                <a:latin typeface="UAF Sans"/>
              </a:rPr>
              <a:t> типу: розвідка маршруту, огляд будівель, контроль відходу.</a:t>
            </a:r>
          </a:p>
        </p:txBody>
      </p:sp>
      <p:sp>
        <p:nvSpPr>
          <p:cNvPr id="27" name="Rectangle 26"/>
          <p:cNvSpPr/>
          <p:nvPr/>
        </p:nvSpPr>
        <p:spPr>
          <a:xfrm>
            <a:off x="8112760" y="1481328"/>
            <a:ext cx="366776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28" name="Connector 27"/>
          <p:cNvCxnSpPr/>
          <p:nvPr/>
        </p:nvCxnSpPr>
        <p:spPr>
          <a:xfrm>
            <a:off x="811276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11276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64336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78052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2760" y="1631328"/>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03</a:t>
            </a:r>
          </a:p>
        </p:txBody>
      </p:sp>
      <p:sp>
        <p:nvSpPr>
          <p:cNvPr id="33" name="TextBox 32"/>
          <p:cNvSpPr txBox="1"/>
          <p:nvPr/>
        </p:nvSpPr>
        <p:spPr>
          <a:xfrm>
            <a:off x="9012760" y="1631328"/>
            <a:ext cx="256776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ВОГНЕВЕ УРАЖЕННЯ ЗАМІСТЬ ШТУРМУ</a:t>
            </a:r>
          </a:p>
        </p:txBody>
      </p:sp>
      <p:cxnSp>
        <p:nvCxnSpPr>
          <p:cNvPr id="34" name="Connector 33"/>
          <p:cNvCxnSpPr/>
          <p:nvPr/>
        </p:nvCxnSpPr>
        <p:spPr>
          <a:xfrm>
            <a:off x="8312760" y="2141328"/>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312760" y="2241328"/>
            <a:ext cx="3267760" cy="1472576"/>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У разі контакту РГ відходила в укриття, по будівлі з противником наносилось комплексне вогневе ураження (FPV, “</a:t>
            </a:r>
            <a:r>
              <a:rPr lang="uk-UA" sz="1200" b="0" i="0" noProof="0" dirty="0" err="1">
                <a:solidFill>
                  <a:srgbClr val="D2CCBC"/>
                </a:solidFill>
                <a:latin typeface="UAF Sans"/>
              </a:rPr>
              <a:t>Vampire</a:t>
            </a:r>
            <a:r>
              <a:rPr lang="uk-UA" sz="1200" b="0" i="0" noProof="0" dirty="0">
                <a:solidFill>
                  <a:srgbClr val="D2CCBC"/>
                </a:solidFill>
                <a:latin typeface="UAF Sans"/>
              </a:rPr>
              <a:t>”, артилерія).</a:t>
            </a:r>
          </a:p>
        </p:txBody>
      </p:sp>
      <p:sp>
        <p:nvSpPr>
          <p:cNvPr id="36" name="Rectangle 35"/>
          <p:cNvSpPr/>
          <p:nvPr/>
        </p:nvSpPr>
        <p:spPr>
          <a:xfrm>
            <a:off x="411480" y="3986784"/>
            <a:ext cx="366776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37" name="Connector 36"/>
          <p:cNvCxnSpPr/>
          <p:nvPr/>
        </p:nvCxnSpPr>
        <p:spPr>
          <a:xfrm>
            <a:off x="411480" y="398678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1480" y="398678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3942080" y="630936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79240" y="617220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11480" y="4136784"/>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04</a:t>
            </a:r>
          </a:p>
        </p:txBody>
      </p:sp>
      <p:sp>
        <p:nvSpPr>
          <p:cNvPr id="42" name="TextBox 41"/>
          <p:cNvSpPr txBox="1"/>
          <p:nvPr/>
        </p:nvSpPr>
        <p:spPr>
          <a:xfrm>
            <a:off x="1311480" y="4254323"/>
            <a:ext cx="2567760" cy="184922"/>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ПІДСВІТКА ЦІЛЕЙ</a:t>
            </a:r>
          </a:p>
        </p:txBody>
      </p:sp>
      <p:cxnSp>
        <p:nvCxnSpPr>
          <p:cNvPr id="43" name="Connector 42"/>
          <p:cNvCxnSpPr/>
          <p:nvPr/>
        </p:nvCxnSpPr>
        <p:spPr>
          <a:xfrm>
            <a:off x="611480" y="4646784"/>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11480" y="4746784"/>
            <a:ext cx="3267760" cy="908710"/>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Екіпаж ЗПМ “СЕРПЕНЬ” здійснював наведення вогневих засобів на виявлений о/с противника, що забезпечило знищення без контакту РГ.</a:t>
            </a:r>
          </a:p>
        </p:txBody>
      </p:sp>
      <p:sp>
        <p:nvSpPr>
          <p:cNvPr id="45" name="Rectangle 44"/>
          <p:cNvSpPr/>
          <p:nvPr/>
        </p:nvSpPr>
        <p:spPr>
          <a:xfrm>
            <a:off x="4262120" y="3986784"/>
            <a:ext cx="366776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46" name="Connector 45"/>
          <p:cNvCxnSpPr/>
          <p:nvPr/>
        </p:nvCxnSpPr>
        <p:spPr>
          <a:xfrm>
            <a:off x="4262120" y="398678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262120" y="398678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792720" y="630936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7929880" y="617220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462120" y="4136784"/>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05</a:t>
            </a:r>
          </a:p>
        </p:txBody>
      </p:sp>
      <p:sp>
        <p:nvSpPr>
          <p:cNvPr id="51" name="TextBox 50"/>
          <p:cNvSpPr txBox="1"/>
          <p:nvPr/>
        </p:nvSpPr>
        <p:spPr>
          <a:xfrm>
            <a:off x="5162120" y="4136784"/>
            <a:ext cx="256776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ЗНИЩЕННЯ БПЛА В ЗАСІДЦІ</a:t>
            </a:r>
          </a:p>
        </p:txBody>
      </p:sp>
      <p:cxnSp>
        <p:nvCxnSpPr>
          <p:cNvPr id="52" name="Connector 51"/>
          <p:cNvCxnSpPr/>
          <p:nvPr/>
        </p:nvCxnSpPr>
        <p:spPr>
          <a:xfrm>
            <a:off x="4462120" y="4646784"/>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4462120" y="4746784"/>
            <a:ext cx="3267760" cy="1472576"/>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На маршрутах висування виявлялись FPV-</a:t>
            </a:r>
            <a:r>
              <a:rPr lang="uk-UA" sz="1200" b="0" i="0" noProof="0" dirty="0" err="1">
                <a:solidFill>
                  <a:srgbClr val="D2CCBC"/>
                </a:solidFill>
                <a:latin typeface="UAF Sans"/>
              </a:rPr>
              <a:t>БпЛА</a:t>
            </a:r>
            <a:r>
              <a:rPr lang="uk-UA" sz="1200" b="0" i="0" noProof="0" dirty="0">
                <a:solidFill>
                  <a:srgbClr val="D2CCBC"/>
                </a:solidFill>
                <a:latin typeface="UAF Sans"/>
              </a:rPr>
              <a:t> противника в засідці та знищувались скиданням боєприпасів до проходження РГ.</a:t>
            </a:r>
          </a:p>
        </p:txBody>
      </p:sp>
      <p:sp>
        <p:nvSpPr>
          <p:cNvPr id="54" name="Rectangle 53"/>
          <p:cNvSpPr/>
          <p:nvPr/>
        </p:nvSpPr>
        <p:spPr>
          <a:xfrm>
            <a:off x="8112760" y="3986784"/>
            <a:ext cx="366776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55" name="Connector 54"/>
          <p:cNvCxnSpPr/>
          <p:nvPr/>
        </p:nvCxnSpPr>
        <p:spPr>
          <a:xfrm>
            <a:off x="8112760" y="398678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8112760" y="398678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1643360" y="630936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1780520" y="617220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8312760" y="4136784"/>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06</a:t>
            </a:r>
          </a:p>
        </p:txBody>
      </p:sp>
      <p:sp>
        <p:nvSpPr>
          <p:cNvPr id="60" name="TextBox 59"/>
          <p:cNvSpPr txBox="1"/>
          <p:nvPr/>
        </p:nvSpPr>
        <p:spPr>
          <a:xfrm>
            <a:off x="9012760" y="4136784"/>
            <a:ext cx="256776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ЗАКРІПЛЕННЯ ОБСТЕЖЕНИХ ДІЛЯНОК</a:t>
            </a:r>
          </a:p>
        </p:txBody>
      </p:sp>
      <p:cxnSp>
        <p:nvCxnSpPr>
          <p:cNvPr id="61" name="Connector 60"/>
          <p:cNvCxnSpPr/>
          <p:nvPr/>
        </p:nvCxnSpPr>
        <p:spPr>
          <a:xfrm>
            <a:off x="8312760" y="4646784"/>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8312760" y="4746784"/>
            <a:ext cx="3267760" cy="677878"/>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На обстежені ділянки заводились групи закріплення (11 позицій), створено рубіж стримування.</a:t>
            </a:r>
          </a:p>
        </p:txBody>
      </p:sp>
      <p:sp>
        <p:nvSpPr>
          <p:cNvPr id="63" name="TextBox 62"/>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19" name="Фото — підготовка" descr="photo_layer.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УПРАВЛІННЯ, ЗВ'ЯЗОК І ВСЕБІЧНЕ ЗАБЕЗПЕЧЕННЯ</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Заходи, проведені в ході підготовки до виконання завдання</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i="0" dirty="0">
                <a:solidFill>
                  <a:srgbClr val="F39200"/>
                </a:solidFill>
                <a:latin typeface="UAF Sans"/>
              </a:rPr>
              <a:t>9</a:t>
            </a:r>
            <a:endParaRPr lang="uk-UA" sz="2200" b="1" i="0" noProof="0" dirty="0">
              <a:solidFill>
                <a:srgbClr val="F39200"/>
              </a:solidFill>
              <a:latin typeface="UAF Sans"/>
            </a:endParaRPr>
          </a:p>
        </p:txBody>
      </p:sp>
      <p:sp>
        <p:nvSpPr>
          <p:cNvPr id="9" name="TextBox 8"/>
          <p:cNvSpPr txBox="1"/>
          <p:nvPr/>
        </p:nvSpPr>
        <p:spPr>
          <a:xfrm>
            <a:off x="411480" y="1458310"/>
            <a:ext cx="3840480" cy="310213"/>
          </a:xfrm>
          <a:prstGeom prst="rect">
            <a:avLst/>
          </a:prstGeom>
          <a:noFill/>
        </p:spPr>
        <p:txBody>
          <a:bodyPr wrap="square" lIns="0" tIns="0" rIns="0" bIns="0" anchor="t">
            <a:spAutoFit/>
          </a:bodyPr>
          <a:lstStyle/>
          <a:p>
            <a:pPr algn="l">
              <a:lnSpc>
                <a:spcPct val="120000"/>
              </a:lnSpc>
            </a:pPr>
            <a:r>
              <a:rPr lang="uk-UA" b="0" i="0" spc="200" noProof="0" dirty="0">
                <a:solidFill>
                  <a:srgbClr val="F39200"/>
                </a:solidFill>
                <a:latin typeface="UAF Sans SemiBold"/>
              </a:rPr>
              <a:t>ПРОВЕДЕНО</a:t>
            </a:r>
          </a:p>
        </p:txBody>
      </p:sp>
      <p:sp>
        <p:nvSpPr>
          <p:cNvPr id="10" name="TextBox 9"/>
          <p:cNvSpPr txBox="1"/>
          <p:nvPr/>
        </p:nvSpPr>
        <p:spPr>
          <a:xfrm>
            <a:off x="349305" y="1918335"/>
            <a:ext cx="6946845" cy="4203202"/>
          </a:xfrm>
          <a:prstGeom prst="rect">
            <a:avLst/>
          </a:prstGeom>
          <a:noFill/>
        </p:spPr>
        <p:txBody>
          <a:bodyPr wrap="square" lIns="0" tIns="0" rIns="0" bIns="0" anchor="t">
            <a:spAutoFit/>
          </a:bodyPr>
          <a:lstStyle/>
          <a:p>
            <a:pPr marL="266700" indent="-266700">
              <a:lnSpc>
                <a:spcPct val="130000"/>
              </a:lnSpc>
            </a:pPr>
            <a:r>
              <a:rPr lang="uk-UA" sz="1600" b="0" i="0" noProof="0" dirty="0">
                <a:solidFill>
                  <a:srgbClr val="F39200"/>
                </a:solidFill>
                <a:latin typeface="UAF Sans" pitchFamily="2" charset="-52"/>
                <a:ea typeface="UAF Sans" pitchFamily="2" charset="-52"/>
              </a:rPr>
              <a:t>1</a:t>
            </a:r>
            <a:r>
              <a:rPr lang="uk-UA" sz="1600" b="0" i="0" noProof="0" dirty="0">
                <a:solidFill>
                  <a:schemeClr val="tx2">
                    <a:lumMod val="20000"/>
                    <a:lumOff val="80000"/>
                  </a:schemeClr>
                </a:solidFill>
                <a:latin typeface="UAF Sans" pitchFamily="2" charset="-52"/>
                <a:ea typeface="UAF Sans" pitchFamily="2" charset="-52"/>
              </a:rPr>
              <a:t>.  Взаємодію </a:t>
            </a:r>
            <a:r>
              <a:rPr lang="uk-UA" sz="1600" b="0" i="0" noProof="0" dirty="0">
                <a:solidFill>
                  <a:srgbClr val="F7F5F0"/>
                </a:solidFill>
                <a:latin typeface="UAF Sans" pitchFamily="2" charset="-52"/>
                <a:ea typeface="UAF Sans" pitchFamily="2" charset="-52"/>
              </a:rPr>
              <a:t>з 107, 108 обр </a:t>
            </a:r>
            <a:r>
              <a:rPr lang="uk-UA" sz="1600" b="0" i="0" noProof="0" dirty="0" err="1">
                <a:solidFill>
                  <a:srgbClr val="F7F5F0"/>
                </a:solidFill>
                <a:latin typeface="UAF Sans" pitchFamily="2" charset="-52"/>
                <a:ea typeface="UAF Sans" pitchFamily="2" charset="-52"/>
              </a:rPr>
              <a:t>ТрО</a:t>
            </a:r>
            <a:r>
              <a:rPr lang="uk-UA" sz="1600" b="0" i="0" noProof="0" dirty="0">
                <a:solidFill>
                  <a:srgbClr val="F7F5F0"/>
                </a:solidFill>
                <a:latin typeface="UAF Sans" pitchFamily="2" charset="-52"/>
                <a:ea typeface="UAF Sans" pitchFamily="2" charset="-52"/>
              </a:rPr>
              <a:t>, 33 ОШП, 142 ОМБР (</a:t>
            </a:r>
            <a:r>
              <a:rPr lang="uk-UA" sz="1600" b="0" i="0" noProof="0" dirty="0" err="1">
                <a:solidFill>
                  <a:srgbClr val="F7F5F0"/>
                </a:solidFill>
                <a:latin typeface="UAF Sans" pitchFamily="2" charset="-52"/>
                <a:ea typeface="UAF Sans" pitchFamily="2" charset="-52"/>
              </a:rPr>
              <a:t>н.п</a:t>
            </a:r>
            <a:r>
              <a:rPr lang="uk-UA" sz="1600" b="0" i="0" noProof="0" dirty="0">
                <a:solidFill>
                  <a:srgbClr val="F7F5F0"/>
                </a:solidFill>
                <a:latin typeface="UAF Sans" pitchFamily="2" charset="-52"/>
                <a:ea typeface="UAF Sans" pitchFamily="2" charset="-52"/>
              </a:rPr>
              <a:t>. ТЕРНУВАТЕ).</a:t>
            </a:r>
          </a:p>
          <a:p>
            <a:pPr marL="266700" indent="-266700" algn="l">
              <a:lnSpc>
                <a:spcPct val="130000"/>
              </a:lnSpc>
              <a:spcBef>
                <a:spcPts val="600"/>
              </a:spcBef>
            </a:pPr>
            <a:r>
              <a:rPr lang="uk-UA" sz="1600" b="0" i="0" noProof="0" dirty="0">
                <a:solidFill>
                  <a:srgbClr val="F39200"/>
                </a:solidFill>
                <a:latin typeface="UAF Sans" pitchFamily="2" charset="-52"/>
                <a:ea typeface="UAF Sans" pitchFamily="2" charset="-52"/>
              </a:rPr>
              <a:t>2.</a:t>
            </a:r>
            <a:r>
              <a:rPr lang="uk-UA" sz="1600" b="0" i="0" noProof="0" dirty="0">
                <a:solidFill>
                  <a:srgbClr val="F7F5F0"/>
                </a:solidFill>
                <a:latin typeface="UAF Sans" pitchFamily="2" charset="-52"/>
                <a:ea typeface="UAF Sans" pitchFamily="2" charset="-52"/>
              </a:rPr>
              <a:t>  </a:t>
            </a:r>
            <a:r>
              <a:rPr lang="uk-UA" sz="1600" b="0" i="0" noProof="0" dirty="0">
                <a:solidFill>
                  <a:schemeClr val="tx2">
                    <a:lumMod val="20000"/>
                    <a:lumOff val="80000"/>
                  </a:schemeClr>
                </a:solidFill>
                <a:latin typeface="UAF Sans" pitchFamily="2" charset="-52"/>
                <a:ea typeface="UAF Sans" pitchFamily="2" charset="-52"/>
              </a:rPr>
              <a:t>Повітряну та радіорозвідку </a:t>
            </a:r>
            <a:r>
              <a:rPr lang="uk-UA" sz="1600" b="0" i="0" noProof="0" dirty="0">
                <a:solidFill>
                  <a:srgbClr val="F7F5F0"/>
                </a:solidFill>
                <a:latin typeface="UAF Sans" pitchFamily="2" charset="-52"/>
                <a:ea typeface="UAF Sans" pitchFamily="2" charset="-52"/>
              </a:rPr>
              <a:t>з метою визначення основного і запасних маршрутів, що забезпечують збереження життя о/с.</a:t>
            </a:r>
          </a:p>
          <a:p>
            <a:pPr marL="266700" indent="-266700" algn="l">
              <a:lnSpc>
                <a:spcPct val="130000"/>
              </a:lnSpc>
              <a:spcBef>
                <a:spcPts val="600"/>
              </a:spcBef>
            </a:pPr>
            <a:r>
              <a:rPr lang="uk-UA" sz="1600" b="0" i="0" noProof="0" dirty="0">
                <a:solidFill>
                  <a:srgbClr val="F39200"/>
                </a:solidFill>
                <a:latin typeface="UAF Sans" pitchFamily="2" charset="-52"/>
                <a:ea typeface="UAF Sans" pitchFamily="2" charset="-52"/>
              </a:rPr>
              <a:t>3.</a:t>
            </a:r>
            <a:r>
              <a:rPr lang="uk-UA" sz="1600" b="0" i="0" noProof="0" dirty="0">
                <a:solidFill>
                  <a:srgbClr val="F7F5F0"/>
                </a:solidFill>
                <a:latin typeface="UAF Sans" pitchFamily="2" charset="-52"/>
                <a:ea typeface="UAF Sans" pitchFamily="2" charset="-52"/>
              </a:rPr>
              <a:t> </a:t>
            </a:r>
            <a:r>
              <a:rPr lang="uk-UA" sz="1600" b="0" i="0" noProof="0" dirty="0">
                <a:solidFill>
                  <a:schemeClr val="tx2">
                    <a:lumMod val="20000"/>
                    <a:lumOff val="80000"/>
                  </a:schemeClr>
                </a:solidFill>
                <a:latin typeface="UAF Sans" pitchFamily="2" charset="-52"/>
                <a:ea typeface="UAF Sans" pitchFamily="2" charset="-52"/>
              </a:rPr>
              <a:t>Налаштування системи орієнтирів в ІКС “</a:t>
            </a:r>
            <a:r>
              <a:rPr lang="uk-UA" sz="1600" b="0" i="0" noProof="0" dirty="0" err="1">
                <a:solidFill>
                  <a:schemeClr val="tx2">
                    <a:lumMod val="20000"/>
                    <a:lumOff val="80000"/>
                  </a:schemeClr>
                </a:solidFill>
                <a:latin typeface="UAF Sans" pitchFamily="2" charset="-52"/>
                <a:ea typeface="UAF Sans" pitchFamily="2" charset="-52"/>
              </a:rPr>
              <a:t>Delta</a:t>
            </a:r>
            <a:r>
              <a:rPr lang="uk-UA" sz="1600" b="0" i="0" noProof="0" dirty="0">
                <a:solidFill>
                  <a:schemeClr val="tx2">
                    <a:lumMod val="20000"/>
                    <a:lumOff val="80000"/>
                  </a:schemeClr>
                </a:solidFill>
                <a:latin typeface="UAF Sans" pitchFamily="2" charset="-52"/>
                <a:ea typeface="UAF Sans" pitchFamily="2" charset="-52"/>
              </a:rPr>
              <a:t>” </a:t>
            </a:r>
            <a:r>
              <a:rPr lang="uk-UA" sz="1600" b="0" i="0" noProof="0" dirty="0">
                <a:solidFill>
                  <a:srgbClr val="F7F5F0"/>
                </a:solidFill>
                <a:latin typeface="UAF Sans" pitchFamily="2" charset="-52"/>
                <a:ea typeface="UAF Sans" pitchFamily="2" charset="-52"/>
              </a:rPr>
              <a:t>для конкретного завдання з дублюванням в </a:t>
            </a:r>
            <a:r>
              <a:rPr lang="uk-UA" sz="1600" b="0" i="0" noProof="0" dirty="0" err="1">
                <a:solidFill>
                  <a:srgbClr val="F7F5F0"/>
                </a:solidFill>
                <a:latin typeface="UAF Sans" pitchFamily="2" charset="-52"/>
                <a:ea typeface="UAF Sans" pitchFamily="2" charset="-52"/>
              </a:rPr>
              <a:t>OfflineMaps</a:t>
            </a:r>
            <a:r>
              <a:rPr lang="uk-UA" sz="1600" b="0" i="0" noProof="0" dirty="0">
                <a:solidFill>
                  <a:srgbClr val="F7F5F0"/>
                </a:solidFill>
                <a:latin typeface="UAF Sans" pitchFamily="2" charset="-52"/>
                <a:ea typeface="UAF Sans" pitchFamily="2" charset="-52"/>
              </a:rPr>
              <a:t>; розроблено систему сигналів переговорів і жестів.</a:t>
            </a:r>
          </a:p>
          <a:p>
            <a:pPr marL="266700" indent="-266700">
              <a:lnSpc>
                <a:spcPct val="130000"/>
              </a:lnSpc>
              <a:spcBef>
                <a:spcPts val="600"/>
              </a:spcBef>
            </a:pPr>
            <a:r>
              <a:rPr lang="uk-UA" sz="1600" b="0" i="0" noProof="0" dirty="0">
                <a:solidFill>
                  <a:srgbClr val="F39200"/>
                </a:solidFill>
                <a:latin typeface="UAF Sans" pitchFamily="2" charset="-52"/>
                <a:ea typeface="UAF Sans" pitchFamily="2" charset="-52"/>
              </a:rPr>
              <a:t>4.</a:t>
            </a:r>
            <a:r>
              <a:rPr lang="uk-UA" sz="1600" b="0" i="0" noProof="0" dirty="0">
                <a:solidFill>
                  <a:srgbClr val="FF0000"/>
                </a:solidFill>
                <a:latin typeface="UAF Sans" pitchFamily="2" charset="-52"/>
                <a:ea typeface="UAF Sans" pitchFamily="2" charset="-52"/>
              </a:rPr>
              <a:t> </a:t>
            </a:r>
            <a:r>
              <a:rPr lang="uk-UA" sz="1600" b="0" i="0" noProof="0" dirty="0">
                <a:solidFill>
                  <a:schemeClr val="tx2">
                    <a:lumMod val="20000"/>
                    <a:lumOff val="80000"/>
                  </a:schemeClr>
                </a:solidFill>
                <a:latin typeface="UAF Sans" pitchFamily="2" charset="-52"/>
                <a:ea typeface="UAF Sans" pitchFamily="2" charset="-52"/>
              </a:rPr>
              <a:t>Підготовку </a:t>
            </a:r>
            <a:r>
              <a:rPr lang="uk-UA" sz="1600" dirty="0">
                <a:solidFill>
                  <a:schemeClr val="tx2">
                    <a:lumMod val="20000"/>
                    <a:lumOff val="80000"/>
                  </a:schemeClr>
                </a:solidFill>
                <a:latin typeface="UAF Sans" pitchFamily="2" charset="-52"/>
                <a:ea typeface="UAF Sans" pitchFamily="2" charset="-52"/>
              </a:rPr>
              <a:t>засобів зв’язку</a:t>
            </a:r>
            <a:r>
              <a:rPr lang="uk-UA" sz="1600" b="0" i="0" noProof="0" dirty="0">
                <a:solidFill>
                  <a:schemeClr val="tx2">
                    <a:lumMod val="20000"/>
                    <a:lumOff val="80000"/>
                  </a:schemeClr>
                </a:solidFill>
                <a:latin typeface="UAF Sans" pitchFamily="2" charset="-52"/>
                <a:ea typeface="UAF Sans" pitchFamily="2" charset="-52"/>
              </a:rPr>
              <a:t>: </a:t>
            </a:r>
            <a:r>
              <a:rPr lang="uk-UA" sz="1600" b="0" i="0" noProof="0" dirty="0">
                <a:solidFill>
                  <a:srgbClr val="F7F5F0"/>
                </a:solidFill>
                <a:latin typeface="UAF Sans" pitchFamily="2" charset="-52"/>
                <a:ea typeface="UAF Sans" pitchFamily="2" charset="-52"/>
              </a:rPr>
              <a:t>кодовані радіостанції </a:t>
            </a:r>
            <a:r>
              <a:rPr lang="uk-UA" sz="1600" b="0" i="0" noProof="0" dirty="0" err="1">
                <a:solidFill>
                  <a:srgbClr val="F7F5F0"/>
                </a:solidFill>
                <a:latin typeface="UAF Sans" pitchFamily="2" charset="-52"/>
                <a:ea typeface="UAF Sans" pitchFamily="2" charset="-52"/>
              </a:rPr>
              <a:t>Motorola</a:t>
            </a:r>
            <a:r>
              <a:rPr lang="uk-UA" sz="1600" b="0" i="0" noProof="0" dirty="0">
                <a:solidFill>
                  <a:srgbClr val="F7F5F0"/>
                </a:solidFill>
                <a:latin typeface="UAF Sans" pitchFamily="2" charset="-52"/>
                <a:ea typeface="UAF Sans" pitchFamily="2" charset="-52"/>
              </a:rPr>
              <a:t> DP4400e, MOTOTRBO R7, термінал </a:t>
            </a:r>
            <a:r>
              <a:rPr lang="uk-UA" sz="1600" b="0" i="0" noProof="0" dirty="0" err="1">
                <a:solidFill>
                  <a:srgbClr val="F7F5F0"/>
                </a:solidFill>
                <a:latin typeface="UAF Sans" pitchFamily="2" charset="-52"/>
                <a:ea typeface="UAF Sans" pitchFamily="2" charset="-52"/>
              </a:rPr>
              <a:t>Starlink</a:t>
            </a:r>
            <a:r>
              <a:rPr lang="uk-UA" sz="1600" b="0" i="0" noProof="0" dirty="0">
                <a:solidFill>
                  <a:srgbClr val="F7F5F0"/>
                </a:solidFill>
                <a:latin typeface="UAF Sans" pitchFamily="2" charset="-52"/>
                <a:ea typeface="UAF Sans" pitchFamily="2" charset="-52"/>
              </a:rPr>
              <a:t> </a:t>
            </a:r>
            <a:r>
              <a:rPr lang="uk-UA" sz="1600" b="0" i="0" noProof="0" dirty="0" err="1">
                <a:solidFill>
                  <a:srgbClr val="F7F5F0"/>
                </a:solidFill>
                <a:latin typeface="UAF Sans" pitchFamily="2" charset="-52"/>
                <a:ea typeface="UAF Sans" pitchFamily="2" charset="-52"/>
              </a:rPr>
              <a:t>Mini</a:t>
            </a:r>
            <a:r>
              <a:rPr lang="uk-UA" sz="1600" b="0" i="0" noProof="0" dirty="0">
                <a:solidFill>
                  <a:srgbClr val="F7F5F0"/>
                </a:solidFill>
                <a:latin typeface="UAF Sans" pitchFamily="2" charset="-52"/>
                <a:ea typeface="UAF Sans" pitchFamily="2" charset="-52"/>
              </a:rPr>
              <a:t>, ПЗ “ЛІВАН”.</a:t>
            </a:r>
          </a:p>
          <a:p>
            <a:pPr marL="266700" indent="-266700" algn="l">
              <a:lnSpc>
                <a:spcPct val="130000"/>
              </a:lnSpc>
              <a:spcBef>
                <a:spcPts val="600"/>
              </a:spcBef>
            </a:pPr>
            <a:r>
              <a:rPr lang="uk-UA" sz="1600" b="0" i="0" noProof="0" dirty="0">
                <a:solidFill>
                  <a:srgbClr val="F39200"/>
                </a:solidFill>
                <a:latin typeface="UAF Sans" pitchFamily="2" charset="-52"/>
                <a:ea typeface="UAF Sans" pitchFamily="2" charset="-52"/>
              </a:rPr>
              <a:t>5.</a:t>
            </a:r>
            <a:r>
              <a:rPr lang="uk-UA" sz="1600" b="0" i="0" noProof="0" dirty="0">
                <a:solidFill>
                  <a:srgbClr val="F7F5F0"/>
                </a:solidFill>
                <a:latin typeface="UAF Sans" pitchFamily="2" charset="-52"/>
                <a:ea typeface="UAF Sans" pitchFamily="2" charset="-52"/>
              </a:rPr>
              <a:t>  </a:t>
            </a:r>
            <a:r>
              <a:rPr lang="uk-UA" sz="1600" b="0" i="0" noProof="0" dirty="0">
                <a:solidFill>
                  <a:schemeClr val="tx2">
                    <a:lumMod val="20000"/>
                    <a:lumOff val="80000"/>
                  </a:schemeClr>
                </a:solidFill>
                <a:latin typeface="UAF Sans" pitchFamily="2" charset="-52"/>
                <a:ea typeface="UAF Sans" pitchFamily="2" charset="-52"/>
              </a:rPr>
              <a:t>Підготовку </a:t>
            </a:r>
            <a:r>
              <a:rPr lang="uk-UA" sz="1600" b="0" i="0" noProof="0" dirty="0" err="1">
                <a:solidFill>
                  <a:schemeClr val="tx2">
                    <a:lumMod val="20000"/>
                    <a:lumOff val="80000"/>
                  </a:schemeClr>
                </a:solidFill>
                <a:latin typeface="UAF Sans" pitchFamily="2" charset="-52"/>
                <a:ea typeface="UAF Sans" pitchFamily="2" charset="-52"/>
              </a:rPr>
              <a:t>технічн</a:t>
            </a:r>
            <a:r>
              <a:rPr lang="uk-UA" sz="1600" dirty="0" err="1">
                <a:solidFill>
                  <a:schemeClr val="tx2">
                    <a:lumMod val="20000"/>
                    <a:lumOff val="80000"/>
                  </a:schemeClr>
                </a:solidFill>
                <a:latin typeface="UAF Sans" pitchFamily="2" charset="-52"/>
                <a:ea typeface="UAF Sans" pitchFamily="2" charset="-52"/>
              </a:rPr>
              <a:t>их</a:t>
            </a:r>
            <a:r>
              <a:rPr lang="uk-UA" sz="1600" b="0" i="0" noProof="0" dirty="0">
                <a:solidFill>
                  <a:schemeClr val="tx2">
                    <a:lumMod val="20000"/>
                    <a:lumOff val="80000"/>
                  </a:schemeClr>
                </a:solidFill>
                <a:latin typeface="UAF Sans" pitchFamily="2" charset="-52"/>
                <a:ea typeface="UAF Sans" pitchFamily="2" charset="-52"/>
              </a:rPr>
              <a:t> засобів: </a:t>
            </a:r>
            <a:r>
              <a:rPr lang="uk-UA" sz="1600" b="0" i="0" noProof="0" dirty="0">
                <a:solidFill>
                  <a:srgbClr val="F7F5F0"/>
                </a:solidFill>
                <a:latin typeface="UAF Sans" pitchFamily="2" charset="-52"/>
                <a:ea typeface="UAF Sans" pitchFamily="2" charset="-52"/>
              </a:rPr>
              <a:t>ПНБ AN/PVS-14, </a:t>
            </a:r>
            <a:r>
              <a:rPr lang="uk-UA" sz="1600" b="0" i="0" noProof="0" dirty="0" err="1">
                <a:solidFill>
                  <a:srgbClr val="F7F5F0"/>
                </a:solidFill>
                <a:latin typeface="UAF Sans" pitchFamily="2" charset="-52"/>
                <a:ea typeface="UAF Sans" pitchFamily="2" charset="-52"/>
              </a:rPr>
              <a:t>тепловізори</a:t>
            </a:r>
            <a:r>
              <a:rPr lang="uk-UA" sz="1600" b="0" i="0" noProof="0" dirty="0">
                <a:solidFill>
                  <a:srgbClr val="F7F5F0"/>
                </a:solidFill>
                <a:latin typeface="UAF Sans" pitchFamily="2" charset="-52"/>
                <a:ea typeface="UAF Sans" pitchFamily="2" charset="-52"/>
              </a:rPr>
              <a:t> </a:t>
            </a:r>
            <a:r>
              <a:rPr lang="uk-UA" sz="1600" b="0" i="0" noProof="0" dirty="0" err="1">
                <a:solidFill>
                  <a:srgbClr val="F7F5F0"/>
                </a:solidFill>
                <a:latin typeface="UAF Sans" pitchFamily="2" charset="-52"/>
                <a:ea typeface="UAF Sans" pitchFamily="2" charset="-52"/>
              </a:rPr>
              <a:t>Archer</a:t>
            </a:r>
            <a:r>
              <a:rPr lang="uk-UA" sz="1600" b="0" i="0" noProof="0" dirty="0">
                <a:solidFill>
                  <a:srgbClr val="F7F5F0"/>
                </a:solidFill>
                <a:latin typeface="UAF Sans" pitchFamily="2" charset="-52"/>
                <a:ea typeface="UAF Sans" pitchFamily="2" charset="-52"/>
              </a:rPr>
              <a:t> TMA-55L, AGM </a:t>
            </a:r>
            <a:r>
              <a:rPr lang="uk-UA" sz="1600" b="0" i="0" noProof="0" dirty="0" err="1">
                <a:solidFill>
                  <a:srgbClr val="F7F5F0"/>
                </a:solidFill>
                <a:latin typeface="UAF Sans" pitchFamily="2" charset="-52"/>
                <a:ea typeface="UAF Sans" pitchFamily="2" charset="-52"/>
              </a:rPr>
              <a:t>Taipan</a:t>
            </a:r>
            <a:r>
              <a:rPr lang="uk-UA" sz="1600" b="0" i="0" noProof="0" dirty="0">
                <a:solidFill>
                  <a:srgbClr val="F7F5F0"/>
                </a:solidFill>
                <a:latin typeface="UAF Sans" pitchFamily="2" charset="-52"/>
                <a:ea typeface="UAF Sans" pitchFamily="2" charset="-52"/>
              </a:rPr>
              <a:t>, </a:t>
            </a:r>
            <a:r>
              <a:rPr lang="uk-UA" sz="1600" b="0" i="0" noProof="0" dirty="0" err="1">
                <a:solidFill>
                  <a:srgbClr val="F7F5F0"/>
                </a:solidFill>
                <a:latin typeface="UAF Sans" pitchFamily="2" charset="-52"/>
                <a:ea typeface="UAF Sans" pitchFamily="2" charset="-52"/>
              </a:rPr>
              <a:t>БпЛА</a:t>
            </a:r>
            <a:r>
              <a:rPr lang="uk-UA" sz="1600" b="0" i="0" noProof="0" dirty="0">
                <a:solidFill>
                  <a:srgbClr val="F7F5F0"/>
                </a:solidFill>
                <a:latin typeface="UAF Sans" pitchFamily="2" charset="-52"/>
                <a:ea typeface="UAF Sans" pitchFamily="2" charset="-52"/>
              </a:rPr>
              <a:t> DJI </a:t>
            </a:r>
            <a:r>
              <a:rPr lang="uk-UA" sz="1600" b="0" i="0" noProof="0" dirty="0" err="1">
                <a:solidFill>
                  <a:srgbClr val="F7F5F0"/>
                </a:solidFill>
                <a:latin typeface="UAF Sans" pitchFamily="2" charset="-52"/>
                <a:ea typeface="UAF Sans" pitchFamily="2" charset="-52"/>
              </a:rPr>
              <a:t>Avata</a:t>
            </a:r>
            <a:r>
              <a:rPr lang="uk-UA" sz="1600" b="0" i="0" noProof="0" dirty="0">
                <a:solidFill>
                  <a:srgbClr val="F7F5F0"/>
                </a:solidFill>
                <a:latin typeface="UAF Sans" pitchFamily="2" charset="-52"/>
                <a:ea typeface="UAF Sans" pitchFamily="2" charset="-52"/>
              </a:rPr>
              <a:t> 2.</a:t>
            </a:r>
          </a:p>
          <a:p>
            <a:pPr marL="266700" indent="-266700" algn="l">
              <a:lnSpc>
                <a:spcPct val="130000"/>
              </a:lnSpc>
              <a:spcBef>
                <a:spcPts val="600"/>
              </a:spcBef>
              <a:buAutoNum type="arabicPeriod" startAt="6"/>
            </a:pPr>
            <a:r>
              <a:rPr lang="uk-UA" sz="1600" b="0" i="0" noProof="0" dirty="0">
                <a:solidFill>
                  <a:schemeClr val="tx2">
                    <a:lumMod val="20000"/>
                    <a:lumOff val="80000"/>
                  </a:schemeClr>
                </a:solidFill>
                <a:latin typeface="UAF Sans" pitchFamily="2" charset="-52"/>
                <a:ea typeface="UAF Sans" pitchFamily="2" charset="-52"/>
              </a:rPr>
              <a:t>Підготовку засобів евакуації </a:t>
            </a:r>
            <a:r>
              <a:rPr lang="uk-UA" sz="1600" b="0" i="0" noProof="0" dirty="0">
                <a:solidFill>
                  <a:schemeClr val="bg1"/>
                </a:solidFill>
                <a:latin typeface="UAF Sans" pitchFamily="2" charset="-52"/>
                <a:ea typeface="UAF Sans" pitchFamily="2" charset="-52"/>
              </a:rPr>
              <a:t>(</a:t>
            </a:r>
            <a:r>
              <a:rPr lang="uk-UA" sz="1600" b="0" i="0" noProof="0" dirty="0">
                <a:solidFill>
                  <a:srgbClr val="F7F5F0"/>
                </a:solidFill>
                <a:latin typeface="UAF Sans" pitchFamily="2" charset="-52"/>
                <a:ea typeface="UAF Sans" pitchFamily="2" charset="-52"/>
              </a:rPr>
              <a:t>НРК роти вогневої підтримки в умовах неможливості застосування автомобільної техніки).</a:t>
            </a:r>
          </a:p>
        </p:txBody>
      </p:sp>
      <p:sp>
        <p:nvSpPr>
          <p:cNvPr id="18" name="TextBox 17"/>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ЧИННИКИ, ЩО УСКЛАДНЮВАЛИ ВИКОНАННЯ ЗАВДАННЯ</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Враховані під час формування рекомендацій</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i="0" noProof="0" dirty="0">
                <a:solidFill>
                  <a:srgbClr val="F39200"/>
                </a:solidFill>
                <a:latin typeface="UAF Sans"/>
              </a:rPr>
              <a:t>1</a:t>
            </a:r>
            <a:r>
              <a:rPr lang="uk-UA" sz="2200" b="1" dirty="0">
                <a:solidFill>
                  <a:srgbClr val="F39200"/>
                </a:solidFill>
                <a:latin typeface="UAF Sans"/>
              </a:rPr>
              <a:t>0</a:t>
            </a:r>
            <a:endParaRPr lang="uk-UA" sz="2200" b="1" i="0" noProof="0" dirty="0">
              <a:solidFill>
                <a:srgbClr val="F39200"/>
              </a:solidFill>
              <a:latin typeface="UAF Sans"/>
            </a:endParaRPr>
          </a:p>
        </p:txBody>
      </p:sp>
      <p:sp>
        <p:nvSpPr>
          <p:cNvPr id="9" name="Rectangle 8"/>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0" name="Connector 9"/>
          <p:cNvCxnSpPr/>
          <p:nvPr/>
        </p:nvCxnSpPr>
        <p:spPr>
          <a:xfrm>
            <a:off x="41148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1148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11480" y="1631328"/>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01</a:t>
            </a:r>
          </a:p>
        </p:txBody>
      </p:sp>
      <p:sp>
        <p:nvSpPr>
          <p:cNvPr id="15" name="TextBox 14"/>
          <p:cNvSpPr txBox="1"/>
          <p:nvPr/>
        </p:nvSpPr>
        <p:spPr>
          <a:xfrm>
            <a:off x="1311480" y="1631328"/>
            <a:ext cx="449308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ЩІЛЬНА ПОВІТРЯНА РОЗВІДКА ПРОТИВНИКА</a:t>
            </a:r>
          </a:p>
        </p:txBody>
      </p:sp>
      <p:cxnSp>
        <p:nvCxnSpPr>
          <p:cNvPr id="16" name="Connector 15"/>
          <p:cNvCxnSpPr/>
          <p:nvPr/>
        </p:nvCxnSpPr>
        <p:spPr>
          <a:xfrm>
            <a:off x="611480" y="2141328"/>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1480" y="2241328"/>
            <a:ext cx="5193080" cy="734368"/>
          </a:xfrm>
          <a:prstGeom prst="rect">
            <a:avLst/>
          </a:prstGeom>
          <a:noFill/>
        </p:spPr>
        <p:txBody>
          <a:bodyPr wrap="square" lIns="0" tIns="0" rIns="0" bIns="0" anchor="t">
            <a:spAutoFit/>
          </a:bodyPr>
          <a:lstStyle/>
          <a:p>
            <a:pPr algn="l">
              <a:lnSpc>
                <a:spcPct val="125000"/>
              </a:lnSpc>
            </a:pPr>
            <a:r>
              <a:rPr lang="uk-UA" sz="1300" b="0" i="0" noProof="0" dirty="0">
                <a:solidFill>
                  <a:srgbClr val="D2CCBC"/>
                </a:solidFill>
                <a:latin typeface="UAF Sans"/>
              </a:rPr>
              <a:t>Виявлення РГ засобами повітряної розвідки та нанесення комплексного вогневого ураження: поранення від FPV (</a:t>
            </a:r>
            <a:r>
              <a:rPr lang="uk-UA" sz="1300" b="0" i="0" noProof="0" dirty="0" err="1">
                <a:solidFill>
                  <a:srgbClr val="D2CCBC"/>
                </a:solidFill>
                <a:latin typeface="UAF Sans"/>
              </a:rPr>
              <a:t>н.п</a:t>
            </a:r>
            <a:r>
              <a:rPr lang="uk-UA" sz="1300" b="0" i="0" noProof="0" dirty="0">
                <a:solidFill>
                  <a:srgbClr val="D2CCBC"/>
                </a:solidFill>
                <a:latin typeface="UAF Sans"/>
              </a:rPr>
              <a:t>. ТЕРНУВАТЕ).</a:t>
            </a:r>
          </a:p>
        </p:txBody>
      </p:sp>
      <p:sp>
        <p:nvSpPr>
          <p:cNvPr id="18" name="Rectangle 17"/>
          <p:cNvSpPr/>
          <p:nvPr/>
        </p:nvSpPr>
        <p:spPr>
          <a:xfrm>
            <a:off x="618744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9" name="Connector 18"/>
          <p:cNvCxnSpPr/>
          <p:nvPr/>
        </p:nvCxnSpPr>
        <p:spPr>
          <a:xfrm>
            <a:off x="618744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187440" y="1481328"/>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164336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78052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387440" y="1631328"/>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02</a:t>
            </a:r>
          </a:p>
        </p:txBody>
      </p:sp>
      <p:sp>
        <p:nvSpPr>
          <p:cNvPr id="24" name="TextBox 23"/>
          <p:cNvSpPr txBox="1"/>
          <p:nvPr/>
        </p:nvSpPr>
        <p:spPr>
          <a:xfrm>
            <a:off x="7087440" y="1631328"/>
            <a:ext cx="449308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МІНУВАННЯ МАРШРУТІВ ВИСУВАННЯ</a:t>
            </a:r>
          </a:p>
        </p:txBody>
      </p:sp>
      <p:cxnSp>
        <p:nvCxnSpPr>
          <p:cNvPr id="25" name="Connector 24"/>
          <p:cNvCxnSpPr/>
          <p:nvPr/>
        </p:nvCxnSpPr>
        <p:spPr>
          <a:xfrm>
            <a:off x="6387440" y="2141328"/>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387440" y="2241328"/>
            <a:ext cx="5193080" cy="1472576"/>
          </a:xfrm>
          <a:prstGeom prst="rect">
            <a:avLst/>
          </a:prstGeom>
          <a:noFill/>
        </p:spPr>
        <p:txBody>
          <a:bodyPr wrap="square" lIns="0" tIns="0" rIns="0" bIns="0" anchor="t">
            <a:spAutoFit/>
          </a:bodyPr>
          <a:lstStyle/>
          <a:p>
            <a:pPr algn="l">
              <a:lnSpc>
                <a:spcPct val="125000"/>
              </a:lnSpc>
            </a:pPr>
            <a:r>
              <a:rPr lang="uk-UA" sz="1300" b="0" i="0" noProof="0" dirty="0">
                <a:solidFill>
                  <a:srgbClr val="D2CCBC"/>
                </a:solidFill>
                <a:latin typeface="UAF Sans"/>
              </a:rPr>
              <a:t>18.08 на маршруті висування в </a:t>
            </a:r>
            <a:r>
              <a:rPr lang="uk-UA" sz="1300" b="0" i="0" noProof="0" dirty="0" err="1">
                <a:solidFill>
                  <a:srgbClr val="D2CCBC"/>
                </a:solidFill>
                <a:latin typeface="UAF Sans"/>
              </a:rPr>
              <a:t>н.п</a:t>
            </a:r>
            <a:r>
              <a:rPr lang="uk-UA" sz="1300" b="0" i="0" noProof="0" dirty="0">
                <a:solidFill>
                  <a:srgbClr val="D2CCBC"/>
                </a:solidFill>
                <a:latin typeface="UAF Sans"/>
              </a:rPr>
              <a:t>. ТЕРНУВАТЕ в/с РГ підірвався на СВП, отримав травматичну ампутацію кінцівки.</a:t>
            </a:r>
          </a:p>
        </p:txBody>
      </p:sp>
      <p:sp>
        <p:nvSpPr>
          <p:cNvPr id="27" name="Rectangle 26"/>
          <p:cNvSpPr/>
          <p:nvPr/>
        </p:nvSpPr>
        <p:spPr>
          <a:xfrm>
            <a:off x="411480" y="3986784"/>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28" name="Connector 27"/>
          <p:cNvCxnSpPr/>
          <p:nvPr/>
        </p:nvCxnSpPr>
        <p:spPr>
          <a:xfrm>
            <a:off x="411480" y="398678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11480" y="398678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67400" y="630936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004560" y="617220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1480" y="4136784"/>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03</a:t>
            </a:r>
          </a:p>
        </p:txBody>
      </p:sp>
      <p:sp>
        <p:nvSpPr>
          <p:cNvPr id="33" name="TextBox 32"/>
          <p:cNvSpPr txBox="1"/>
          <p:nvPr/>
        </p:nvSpPr>
        <p:spPr>
          <a:xfrm>
            <a:off x="1311480" y="4136784"/>
            <a:ext cx="449308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ЗАТРИМКА ЕВАКУАЦІЇ ПОРАНЕНИХ</a:t>
            </a:r>
          </a:p>
        </p:txBody>
      </p:sp>
      <p:cxnSp>
        <p:nvCxnSpPr>
          <p:cNvPr id="34" name="Connector 33"/>
          <p:cNvCxnSpPr/>
          <p:nvPr/>
        </p:nvCxnSpPr>
        <p:spPr>
          <a:xfrm>
            <a:off x="611480" y="4646784"/>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11480" y="4746784"/>
            <a:ext cx="5193080" cy="484300"/>
          </a:xfrm>
          <a:prstGeom prst="rect">
            <a:avLst/>
          </a:prstGeom>
          <a:noFill/>
        </p:spPr>
        <p:txBody>
          <a:bodyPr wrap="square" lIns="0" tIns="0" rIns="0" bIns="0" anchor="t">
            <a:spAutoFit/>
          </a:bodyPr>
          <a:lstStyle/>
          <a:p>
            <a:pPr algn="l">
              <a:lnSpc>
                <a:spcPct val="125000"/>
              </a:lnSpc>
            </a:pPr>
            <a:r>
              <a:rPr lang="uk-UA" sz="1300" b="0" i="0" noProof="0" dirty="0">
                <a:solidFill>
                  <a:srgbClr val="D2CCBC"/>
                </a:solidFill>
                <a:latin typeface="UAF Sans"/>
              </a:rPr>
              <a:t>Через активність </a:t>
            </a:r>
            <a:r>
              <a:rPr lang="uk-UA" sz="1300" b="0" i="0" noProof="0" dirty="0" err="1">
                <a:solidFill>
                  <a:srgbClr val="D2CCBC"/>
                </a:solidFill>
                <a:latin typeface="UAF Sans"/>
              </a:rPr>
              <a:t>БпЛА</a:t>
            </a:r>
            <a:r>
              <a:rPr lang="uk-UA" sz="1300" b="0" i="0" noProof="0" dirty="0">
                <a:solidFill>
                  <a:srgbClr val="D2CCBC"/>
                </a:solidFill>
                <a:latin typeface="UAF Sans"/>
              </a:rPr>
              <a:t> та щільність вогневого ураження евакуація поранених тривала до 2 діб.</a:t>
            </a:r>
          </a:p>
        </p:txBody>
      </p:sp>
      <p:sp>
        <p:nvSpPr>
          <p:cNvPr id="36" name="Rectangle 35"/>
          <p:cNvSpPr/>
          <p:nvPr/>
        </p:nvSpPr>
        <p:spPr>
          <a:xfrm>
            <a:off x="6187440" y="3986784"/>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37" name="Connector 36"/>
          <p:cNvCxnSpPr/>
          <p:nvPr/>
        </p:nvCxnSpPr>
        <p:spPr>
          <a:xfrm>
            <a:off x="6187440" y="398678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187440" y="398678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1643360" y="6309360"/>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780520" y="6172200"/>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387440" y="4136784"/>
            <a:ext cx="700000" cy="420000"/>
          </a:xfrm>
          <a:prstGeom prst="rect">
            <a:avLst/>
          </a:prstGeom>
          <a:noFill/>
        </p:spPr>
        <p:txBody>
          <a:bodyPr wrap="square" lIns="0" tIns="0" rIns="0" bIns="0" anchor="t">
            <a:spAutoFit/>
          </a:bodyPr>
          <a:lstStyle/>
          <a:p>
            <a:pPr algn="l">
              <a:lnSpc>
                <a:spcPct val="120000"/>
              </a:lnSpc>
            </a:pPr>
            <a:r>
              <a:rPr lang="uk-UA" sz="2200" b="1" i="0" noProof="0" dirty="0">
                <a:solidFill>
                  <a:srgbClr val="F39200"/>
                </a:solidFill>
                <a:latin typeface="UAF Sans"/>
              </a:rPr>
              <a:t>04</a:t>
            </a:r>
          </a:p>
        </p:txBody>
      </p:sp>
      <p:sp>
        <p:nvSpPr>
          <p:cNvPr id="42" name="TextBox 41"/>
          <p:cNvSpPr txBox="1"/>
          <p:nvPr/>
        </p:nvSpPr>
        <p:spPr>
          <a:xfrm>
            <a:off x="7087440" y="4136784"/>
            <a:ext cx="449308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УРАЖЕННЯ ПДП</a:t>
            </a:r>
          </a:p>
        </p:txBody>
      </p:sp>
      <p:cxnSp>
        <p:nvCxnSpPr>
          <p:cNvPr id="43" name="Connector 42"/>
          <p:cNvCxnSpPr/>
          <p:nvPr/>
        </p:nvCxnSpPr>
        <p:spPr>
          <a:xfrm>
            <a:off x="6387440" y="4646784"/>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387440" y="4746784"/>
            <a:ext cx="5193080" cy="1472576"/>
          </a:xfrm>
          <a:prstGeom prst="rect">
            <a:avLst/>
          </a:prstGeom>
          <a:noFill/>
        </p:spPr>
        <p:txBody>
          <a:bodyPr wrap="square" lIns="0" tIns="0" rIns="0" bIns="0" anchor="t">
            <a:spAutoFit/>
          </a:bodyPr>
          <a:lstStyle/>
          <a:p>
            <a:pPr algn="l">
              <a:lnSpc>
                <a:spcPct val="125000"/>
              </a:lnSpc>
            </a:pPr>
            <a:r>
              <a:rPr lang="uk-UA" sz="1300" b="0" i="0" noProof="0" dirty="0">
                <a:solidFill>
                  <a:srgbClr val="D2CCBC"/>
                </a:solidFill>
                <a:latin typeface="UAF Sans"/>
              </a:rPr>
              <a:t>29.08 противником уражено ПДП “СЕРПЕНЬ” FPV на </a:t>
            </a:r>
            <a:r>
              <a:rPr lang="uk-UA" sz="1300" b="0" i="0" noProof="0" dirty="0" err="1">
                <a:solidFill>
                  <a:srgbClr val="D2CCBC"/>
                </a:solidFill>
                <a:latin typeface="UAF Sans"/>
              </a:rPr>
              <a:t>оптоволокні</a:t>
            </a:r>
            <a:r>
              <a:rPr lang="uk-UA" sz="1300" b="0" i="0" noProof="0" dirty="0">
                <a:solidFill>
                  <a:srgbClr val="D2CCBC"/>
                </a:solidFill>
                <a:latin typeface="UAF Sans"/>
              </a:rPr>
              <a:t> та </a:t>
            </a:r>
            <a:r>
              <a:rPr lang="uk-UA" sz="1300" b="0" i="0" noProof="0" dirty="0" err="1">
                <a:solidFill>
                  <a:srgbClr val="D2CCBC"/>
                </a:solidFill>
                <a:latin typeface="UAF Sans"/>
              </a:rPr>
              <a:t>БпЛА</a:t>
            </a:r>
            <a:r>
              <a:rPr lang="uk-UA" sz="1300" b="0" i="0" noProof="0" dirty="0">
                <a:solidFill>
                  <a:srgbClr val="D2CCBC"/>
                </a:solidFill>
                <a:latin typeface="UAF Sans"/>
              </a:rPr>
              <a:t> “</a:t>
            </a:r>
            <a:r>
              <a:rPr lang="uk-UA" sz="1300" b="0" i="0" noProof="0" dirty="0" err="1">
                <a:solidFill>
                  <a:srgbClr val="D2CCBC"/>
                </a:solidFill>
                <a:latin typeface="UAF Sans"/>
              </a:rPr>
              <a:t>Молнія</a:t>
            </a:r>
            <a:r>
              <a:rPr lang="uk-UA" sz="1300" b="0" i="0" noProof="0" dirty="0">
                <a:solidFill>
                  <a:srgbClr val="D2CCBC"/>
                </a:solidFill>
                <a:latin typeface="UAF Sans"/>
              </a:rPr>
              <a:t>”: пожежа, детонація БК, загибель полоненого внаслідок отруєння чадним газом.</a:t>
            </a:r>
          </a:p>
        </p:txBody>
      </p:sp>
      <p:sp>
        <p:nvSpPr>
          <p:cNvPr id="45" name="TextBox 44"/>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rcRect l="6903" t="16667" r="10476"/>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pic>
        <p:nvPicPr>
          <p:cNvPr id="4" name="Picture 3" descr="image.png"/>
          <p:cNvPicPr>
            <a:picLocks noChangeAspect="1"/>
          </p:cNvPicPr>
          <p:nvPr/>
        </p:nvPicPr>
        <p:blipFill>
          <a:blip r:embed="rId4"/>
          <a:stretch>
            <a:fillRect/>
          </a:stretch>
        </p:blipFill>
        <p:spPr>
          <a:xfrm>
            <a:off x="0" y="0"/>
            <a:ext cx="12192000" cy="6858000"/>
          </a:xfrm>
          <a:prstGeom prst="rect">
            <a:avLst/>
          </a:prstGeom>
        </p:spPr>
      </p:pic>
      <p:sp>
        <p:nvSpPr>
          <p:cNvPr id="5" name="TextBox 4"/>
          <p:cNvSpPr txBox="1"/>
          <p:nvPr/>
        </p:nvSpPr>
        <p:spPr>
          <a:xfrm>
            <a:off x="502920" y="300000"/>
            <a:ext cx="4572000" cy="1700000"/>
          </a:xfrm>
          <a:prstGeom prst="rect">
            <a:avLst/>
          </a:prstGeom>
          <a:noFill/>
        </p:spPr>
        <p:txBody>
          <a:bodyPr wrap="square" lIns="0" tIns="0" rIns="0" bIns="0" anchor="t">
            <a:spAutoFit/>
          </a:bodyPr>
          <a:lstStyle/>
          <a:p>
            <a:pPr algn="l">
              <a:lnSpc>
                <a:spcPct val="100000"/>
              </a:lnSpc>
            </a:pPr>
            <a:r>
              <a:rPr lang="uk-UA" sz="12000" b="1" i="0" noProof="0" dirty="0">
                <a:solidFill>
                  <a:srgbClr val="3A3527"/>
                </a:solidFill>
                <a:latin typeface="UAF Sans"/>
              </a:rPr>
              <a:t>03</a:t>
            </a:r>
          </a:p>
        </p:txBody>
      </p:sp>
      <p:cxnSp>
        <p:nvCxnSpPr>
          <p:cNvPr id="6" name="Connector 5"/>
          <p:cNvCxnSpPr/>
          <p:nvPr/>
        </p:nvCxnSpPr>
        <p:spPr>
          <a:xfrm>
            <a:off x="822960" y="239572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22960" y="2395728"/>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168895" y="239572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498079" y="2395728"/>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22960" y="419404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22960" y="3864864"/>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168895" y="4194048"/>
            <a:ext cx="329184"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98079" y="3864864"/>
            <a:ext cx="0" cy="329184"/>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70432" y="2615184"/>
            <a:ext cx="5943600" cy="310896"/>
          </a:xfrm>
          <a:prstGeom prst="rect">
            <a:avLst/>
          </a:prstGeom>
          <a:noFill/>
        </p:spPr>
        <p:txBody>
          <a:bodyPr wrap="square" lIns="0" tIns="0" rIns="0" bIns="0" anchor="t">
            <a:spAutoFit/>
          </a:bodyPr>
          <a:lstStyle/>
          <a:p>
            <a:pPr algn="l">
              <a:lnSpc>
                <a:spcPct val="120000"/>
              </a:lnSpc>
            </a:pPr>
            <a:r>
              <a:rPr lang="uk-UA" sz="1300" b="0" i="0" spc="320" noProof="0" dirty="0">
                <a:solidFill>
                  <a:srgbClr val="F39200"/>
                </a:solidFill>
                <a:latin typeface="UAF Sans SemiBold"/>
              </a:rPr>
              <a:t>ПИТАННЯ III</a:t>
            </a:r>
          </a:p>
        </p:txBody>
      </p:sp>
      <p:sp>
        <p:nvSpPr>
          <p:cNvPr id="15" name="TextBox 14"/>
          <p:cNvSpPr txBox="1"/>
          <p:nvPr/>
        </p:nvSpPr>
        <p:spPr>
          <a:xfrm>
            <a:off x="1170432" y="3017520"/>
            <a:ext cx="5943600" cy="1060704"/>
          </a:xfrm>
          <a:prstGeom prst="rect">
            <a:avLst/>
          </a:prstGeom>
          <a:noFill/>
        </p:spPr>
        <p:txBody>
          <a:bodyPr wrap="square" lIns="0" tIns="0" rIns="0" bIns="0" anchor="ctr">
            <a:spAutoFit/>
          </a:bodyPr>
          <a:lstStyle/>
          <a:p>
            <a:pPr algn="l">
              <a:lnSpc>
                <a:spcPct val="110000"/>
              </a:lnSpc>
            </a:pPr>
            <a:r>
              <a:rPr lang="uk-UA" sz="2600" b="1" i="0" spc="80" noProof="0" dirty="0">
                <a:solidFill>
                  <a:srgbClr val="F7F5F0"/>
                </a:solidFill>
                <a:latin typeface="UAF Sans"/>
              </a:rPr>
              <a:t>РЕКОМЕНДАЦІЇ</a:t>
            </a:r>
          </a:p>
        </p:txBody>
      </p:sp>
      <p:cxnSp>
        <p:nvCxnSpPr>
          <p:cNvPr id="17" name="Connector 16"/>
          <p:cNvCxnSpPr/>
          <p:nvPr/>
        </p:nvCxnSpPr>
        <p:spPr>
          <a:xfrm>
            <a:off x="7818120" y="1481328"/>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818120" y="1481328"/>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440040" y="1481328"/>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1750936" y="1481328"/>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818120" y="5376672"/>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818120" y="5065776"/>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1440040" y="5376672"/>
            <a:ext cx="310896" cy="0"/>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1750936" y="5065776"/>
            <a:ext cx="0" cy="310896"/>
          </a:xfrm>
          <a:prstGeom prst="line">
            <a:avLst/>
          </a:prstGeom>
          <a:ln w="19050">
            <a:solidFill>
              <a:srgbClr val="D9C08A"/>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250000" y="6500837"/>
            <a:ext cx="5000000" cy="165686"/>
          </a:xfrm>
          <a:prstGeom prst="rect">
            <a:avLst/>
          </a:prstGeom>
          <a:noFill/>
        </p:spPr>
        <p:txBody>
          <a:bodyPr wrap="square" lIns="0" tIns="0" rIns="0" bIns="0" anchor="ctr">
            <a:spAutoFit/>
          </a:bodyPr>
          <a:lstStyle/>
          <a:p>
            <a:pPr algn="l">
              <a:lnSpc>
                <a:spcPct val="120000"/>
              </a:lnSpc>
            </a:pPr>
            <a:r>
              <a:rPr lang="uk-UA" sz="950" b="0" i="0" spc="300" noProof="0" dirty="0">
                <a:solidFill>
                  <a:srgbClr val="A8A08A"/>
                </a:solidFill>
                <a:latin typeface="UAF Sans"/>
              </a:rPr>
              <a:t> ДЛЯ СЛУЖБОВОГО КОРИСТУВАННЯ</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grpSp>
        <p:nvGrpSpPr>
          <p:cNvPr id="106" name="Группа 105">
            <a:extLst>
              <a:ext uri="{FF2B5EF4-FFF2-40B4-BE49-F238E27FC236}">
                <a16:creationId xmlns:a16="http://schemas.microsoft.com/office/drawing/2014/main" id="{B15703D1-FE28-5E35-D7FB-54241F8EBD16}"/>
              </a:ext>
            </a:extLst>
          </p:cNvPr>
          <p:cNvGrpSpPr/>
          <p:nvPr/>
        </p:nvGrpSpPr>
        <p:grpSpPr>
          <a:xfrm>
            <a:off x="6224561" y="2618331"/>
            <a:ext cx="5593080" cy="1044203"/>
            <a:chOff x="411480" y="1481328"/>
            <a:chExt cx="5593080" cy="2322576"/>
          </a:xfrm>
        </p:grpSpPr>
        <p:sp>
          <p:nvSpPr>
            <p:cNvPr id="107" name="Rectangle 8">
              <a:extLst>
                <a:ext uri="{FF2B5EF4-FFF2-40B4-BE49-F238E27FC236}">
                  <a16:creationId xmlns:a16="http://schemas.microsoft.com/office/drawing/2014/main" id="{E14318A7-5A24-61D3-7080-975C0417FBA7}"/>
                </a:ext>
              </a:extLst>
            </p:cNvPr>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08" name="Connector 11">
              <a:extLst>
                <a:ext uri="{FF2B5EF4-FFF2-40B4-BE49-F238E27FC236}">
                  <a16:creationId xmlns:a16="http://schemas.microsoft.com/office/drawing/2014/main" id="{B824B321-DBE3-87AA-0984-19780730F73B}"/>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09" name="Connector 12">
              <a:extLst>
                <a:ext uri="{FF2B5EF4-FFF2-40B4-BE49-F238E27FC236}">
                  <a16:creationId xmlns:a16="http://schemas.microsoft.com/office/drawing/2014/main" id="{9730CF46-5D5D-2075-9EEB-937E14454750}"/>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10" name="Группа 109">
            <a:extLst>
              <a:ext uri="{FF2B5EF4-FFF2-40B4-BE49-F238E27FC236}">
                <a16:creationId xmlns:a16="http://schemas.microsoft.com/office/drawing/2014/main" id="{A7AF9202-2941-D8B0-5654-856F80A3E766}"/>
              </a:ext>
            </a:extLst>
          </p:cNvPr>
          <p:cNvGrpSpPr/>
          <p:nvPr/>
        </p:nvGrpSpPr>
        <p:grpSpPr>
          <a:xfrm>
            <a:off x="6224561" y="3827312"/>
            <a:ext cx="5593080" cy="1044203"/>
            <a:chOff x="411480" y="1481328"/>
            <a:chExt cx="5593080" cy="2322576"/>
          </a:xfrm>
        </p:grpSpPr>
        <p:sp>
          <p:nvSpPr>
            <p:cNvPr id="111" name="Rectangle 8">
              <a:extLst>
                <a:ext uri="{FF2B5EF4-FFF2-40B4-BE49-F238E27FC236}">
                  <a16:creationId xmlns:a16="http://schemas.microsoft.com/office/drawing/2014/main" id="{7B8CBC69-9080-28D4-3C88-C527557307C3}"/>
                </a:ext>
              </a:extLst>
            </p:cNvPr>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12" name="Connector 11">
              <a:extLst>
                <a:ext uri="{FF2B5EF4-FFF2-40B4-BE49-F238E27FC236}">
                  <a16:creationId xmlns:a16="http://schemas.microsoft.com/office/drawing/2014/main" id="{A2E31216-B240-2651-81E4-9EA6F972F482}"/>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13" name="Connector 12">
              <a:extLst>
                <a:ext uri="{FF2B5EF4-FFF2-40B4-BE49-F238E27FC236}">
                  <a16:creationId xmlns:a16="http://schemas.microsoft.com/office/drawing/2014/main" id="{09F1B174-AFFA-72FB-E2E3-A7DFDABD6D34}"/>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14" name="Группа 113">
            <a:extLst>
              <a:ext uri="{FF2B5EF4-FFF2-40B4-BE49-F238E27FC236}">
                <a16:creationId xmlns:a16="http://schemas.microsoft.com/office/drawing/2014/main" id="{3C6C54BF-AF88-DFDE-A6B7-05C066CE88DD}"/>
              </a:ext>
            </a:extLst>
          </p:cNvPr>
          <p:cNvGrpSpPr/>
          <p:nvPr/>
        </p:nvGrpSpPr>
        <p:grpSpPr>
          <a:xfrm>
            <a:off x="6234010" y="4991523"/>
            <a:ext cx="5593080" cy="1044203"/>
            <a:chOff x="411480" y="1481328"/>
            <a:chExt cx="5593080" cy="2322576"/>
          </a:xfrm>
        </p:grpSpPr>
        <p:sp>
          <p:nvSpPr>
            <p:cNvPr id="115" name="Rectangle 8">
              <a:extLst>
                <a:ext uri="{FF2B5EF4-FFF2-40B4-BE49-F238E27FC236}">
                  <a16:creationId xmlns:a16="http://schemas.microsoft.com/office/drawing/2014/main" id="{CBF330C8-ED7A-ACE9-9771-3395B37D9719}"/>
                </a:ext>
              </a:extLst>
            </p:cNvPr>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16" name="Connector 11">
              <a:extLst>
                <a:ext uri="{FF2B5EF4-FFF2-40B4-BE49-F238E27FC236}">
                  <a16:creationId xmlns:a16="http://schemas.microsoft.com/office/drawing/2014/main" id="{74C0CCB2-AEF1-91AA-6AB7-F4A0026067E2}"/>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17" name="Connector 12">
              <a:extLst>
                <a:ext uri="{FF2B5EF4-FFF2-40B4-BE49-F238E27FC236}">
                  <a16:creationId xmlns:a16="http://schemas.microsoft.com/office/drawing/2014/main" id="{BAD6D5B2-237A-8E3B-A874-F9E02080FC5D}"/>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02" name="Группа 101">
            <a:extLst>
              <a:ext uri="{FF2B5EF4-FFF2-40B4-BE49-F238E27FC236}">
                <a16:creationId xmlns:a16="http://schemas.microsoft.com/office/drawing/2014/main" id="{FD200BC2-690F-4AA3-2EB2-369A39DA632C}"/>
              </a:ext>
            </a:extLst>
          </p:cNvPr>
          <p:cNvGrpSpPr/>
          <p:nvPr/>
        </p:nvGrpSpPr>
        <p:grpSpPr>
          <a:xfrm>
            <a:off x="6228779" y="1432051"/>
            <a:ext cx="5593080" cy="1044203"/>
            <a:chOff x="411480" y="1481328"/>
            <a:chExt cx="5593080" cy="2322576"/>
          </a:xfrm>
        </p:grpSpPr>
        <p:sp>
          <p:nvSpPr>
            <p:cNvPr id="103" name="Rectangle 8">
              <a:extLst>
                <a:ext uri="{FF2B5EF4-FFF2-40B4-BE49-F238E27FC236}">
                  <a16:creationId xmlns:a16="http://schemas.microsoft.com/office/drawing/2014/main" id="{732C4576-B2E2-0E83-3A04-0E77BF1CE963}"/>
                </a:ext>
              </a:extLst>
            </p:cNvPr>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04" name="Connector 11">
              <a:extLst>
                <a:ext uri="{FF2B5EF4-FFF2-40B4-BE49-F238E27FC236}">
                  <a16:creationId xmlns:a16="http://schemas.microsoft.com/office/drawing/2014/main" id="{6643FC92-8AB0-0B8D-D7C4-E99E13B2282A}"/>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05" name="Connector 12">
              <a:extLst>
                <a:ext uri="{FF2B5EF4-FFF2-40B4-BE49-F238E27FC236}">
                  <a16:creationId xmlns:a16="http://schemas.microsoft.com/office/drawing/2014/main" id="{AC440568-3925-7F54-D371-0F4180CE7B24}"/>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98" name="Группа 97">
            <a:extLst>
              <a:ext uri="{FF2B5EF4-FFF2-40B4-BE49-F238E27FC236}">
                <a16:creationId xmlns:a16="http://schemas.microsoft.com/office/drawing/2014/main" id="{FDFFE060-4781-4835-1E02-67B61AA1DF4F}"/>
              </a:ext>
            </a:extLst>
          </p:cNvPr>
          <p:cNvGrpSpPr/>
          <p:nvPr/>
        </p:nvGrpSpPr>
        <p:grpSpPr>
          <a:xfrm>
            <a:off x="411480" y="5007000"/>
            <a:ext cx="5593080" cy="1053728"/>
            <a:chOff x="411480" y="1460142"/>
            <a:chExt cx="5593080" cy="2343762"/>
          </a:xfrm>
        </p:grpSpPr>
        <p:sp>
          <p:nvSpPr>
            <p:cNvPr id="99" name="Rectangle 8">
              <a:extLst>
                <a:ext uri="{FF2B5EF4-FFF2-40B4-BE49-F238E27FC236}">
                  <a16:creationId xmlns:a16="http://schemas.microsoft.com/office/drawing/2014/main" id="{A9281CC3-D47C-B230-15E5-820ADE409EF0}"/>
                </a:ext>
              </a:extLst>
            </p:cNvPr>
            <p:cNvSpPr/>
            <p:nvPr/>
          </p:nvSpPr>
          <p:spPr>
            <a:xfrm>
              <a:off x="411480" y="1460142"/>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00" name="Connector 11">
              <a:extLst>
                <a:ext uri="{FF2B5EF4-FFF2-40B4-BE49-F238E27FC236}">
                  <a16:creationId xmlns:a16="http://schemas.microsoft.com/office/drawing/2014/main" id="{A8C3ABA0-9767-C864-C7B4-60133154BCDB}"/>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01" name="Connector 12">
              <a:extLst>
                <a:ext uri="{FF2B5EF4-FFF2-40B4-BE49-F238E27FC236}">
                  <a16:creationId xmlns:a16="http://schemas.microsoft.com/office/drawing/2014/main" id="{7997384F-1A02-7728-36EB-FB744FA5DD6F}"/>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94" name="Группа 93">
            <a:extLst>
              <a:ext uri="{FF2B5EF4-FFF2-40B4-BE49-F238E27FC236}">
                <a16:creationId xmlns:a16="http://schemas.microsoft.com/office/drawing/2014/main" id="{5A0DE0AD-73E2-419A-EFEE-069CD2F96E7E}"/>
              </a:ext>
            </a:extLst>
          </p:cNvPr>
          <p:cNvGrpSpPr/>
          <p:nvPr/>
        </p:nvGrpSpPr>
        <p:grpSpPr>
          <a:xfrm>
            <a:off x="411480" y="3799877"/>
            <a:ext cx="5593080" cy="1044203"/>
            <a:chOff x="411480" y="1481328"/>
            <a:chExt cx="5593080" cy="2322576"/>
          </a:xfrm>
        </p:grpSpPr>
        <p:sp>
          <p:nvSpPr>
            <p:cNvPr id="95" name="Rectangle 8">
              <a:extLst>
                <a:ext uri="{FF2B5EF4-FFF2-40B4-BE49-F238E27FC236}">
                  <a16:creationId xmlns:a16="http://schemas.microsoft.com/office/drawing/2014/main" id="{8D9F219C-F18F-B757-9BC4-E4B3AD376CC4}"/>
                </a:ext>
              </a:extLst>
            </p:cNvPr>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96" name="Connector 11">
              <a:extLst>
                <a:ext uri="{FF2B5EF4-FFF2-40B4-BE49-F238E27FC236}">
                  <a16:creationId xmlns:a16="http://schemas.microsoft.com/office/drawing/2014/main" id="{16BA2E82-1A07-143E-B197-E7423DBFFF69}"/>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97" name="Connector 12">
              <a:extLst>
                <a:ext uri="{FF2B5EF4-FFF2-40B4-BE49-F238E27FC236}">
                  <a16:creationId xmlns:a16="http://schemas.microsoft.com/office/drawing/2014/main" id="{51A65301-875A-8627-5697-79727A4C6B72}"/>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90" name="Группа 89">
            <a:extLst>
              <a:ext uri="{FF2B5EF4-FFF2-40B4-BE49-F238E27FC236}">
                <a16:creationId xmlns:a16="http://schemas.microsoft.com/office/drawing/2014/main" id="{4A5A1F57-F06F-7F18-D307-50D243BB8C72}"/>
              </a:ext>
            </a:extLst>
          </p:cNvPr>
          <p:cNvGrpSpPr/>
          <p:nvPr/>
        </p:nvGrpSpPr>
        <p:grpSpPr>
          <a:xfrm>
            <a:off x="417682" y="2612049"/>
            <a:ext cx="5593080" cy="1044203"/>
            <a:chOff x="411480" y="1481328"/>
            <a:chExt cx="5593080" cy="2322576"/>
          </a:xfrm>
        </p:grpSpPr>
        <p:sp>
          <p:nvSpPr>
            <p:cNvPr id="91" name="Rectangle 8">
              <a:extLst>
                <a:ext uri="{FF2B5EF4-FFF2-40B4-BE49-F238E27FC236}">
                  <a16:creationId xmlns:a16="http://schemas.microsoft.com/office/drawing/2014/main" id="{F2979D9F-E455-FAD0-4608-6C879D6270A9}"/>
                </a:ext>
              </a:extLst>
            </p:cNvPr>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92" name="Connector 11">
              <a:extLst>
                <a:ext uri="{FF2B5EF4-FFF2-40B4-BE49-F238E27FC236}">
                  <a16:creationId xmlns:a16="http://schemas.microsoft.com/office/drawing/2014/main" id="{1F463174-B515-D654-FB3F-8C90A5FBB213}"/>
                </a:ext>
              </a:extLst>
            </p:cNvPr>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93" name="Connector 12">
              <a:extLst>
                <a:ext uri="{FF2B5EF4-FFF2-40B4-BE49-F238E27FC236}">
                  <a16:creationId xmlns:a16="http://schemas.microsoft.com/office/drawing/2014/main" id="{BFE73F65-D4A5-CF1D-A640-A23D54A7C7EE}"/>
                </a:ext>
              </a:extLst>
            </p:cNvPr>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pic>
        <p:nvPicPr>
          <p:cNvPr id="3" name="Picture 2" descr="image.png"/>
          <p:cNvPicPr>
            <a:picLocks noChangeAspect="1"/>
          </p:cNvPicPr>
          <p:nvPr/>
        </p:nvPicPr>
        <p:blipFill>
          <a:blip r:embed="rId3"/>
          <a:stretch>
            <a:fillRect/>
          </a:stretch>
        </p:blipFill>
        <p:spPr>
          <a:xfrm>
            <a:off x="411480" y="470000"/>
            <a:ext cx="679133" cy="750000"/>
          </a:xfrm>
          <a:prstGeom prst="rect">
            <a:avLst/>
          </a:prstGeom>
        </p:spPr>
      </p:pic>
      <p:cxnSp>
        <p:nvCxnSpPr>
          <p:cNvPr id="4" name="Connector 3"/>
          <p:cNvCxnSpPr/>
          <p:nvPr/>
        </p:nvCxnSpPr>
        <p:spPr>
          <a:xfrm>
            <a:off x="1240613" y="510000"/>
            <a:ext cx="0" cy="670000"/>
          </a:xfrm>
          <a:prstGeom prst="line">
            <a:avLst/>
          </a:prstGeom>
          <a:ln w="12700">
            <a:solidFill>
              <a:srgbClr val="B06A0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410613" y="457200"/>
            <a:ext cx="9461539" cy="475488"/>
          </a:xfrm>
          <a:prstGeom prst="rect">
            <a:avLst/>
          </a:prstGeom>
          <a:noFill/>
        </p:spPr>
        <p:txBody>
          <a:bodyPr wrap="square" lIns="0" tIns="0" rIns="0" bIns="0" anchor="ctr">
            <a:spAutoFit/>
          </a:bodyPr>
          <a:lstStyle/>
          <a:p>
            <a:pPr algn="l">
              <a:lnSpc>
                <a:spcPct val="120000"/>
              </a:lnSpc>
            </a:pPr>
            <a:r>
              <a:rPr lang="uk-UA" sz="2200" b="1" i="0" spc="20" noProof="0" dirty="0">
                <a:solidFill>
                  <a:srgbClr val="F7F5F0"/>
                </a:solidFill>
                <a:latin typeface="UAF Sans"/>
              </a:rPr>
              <a:t>РЕКОМЕНДАЦІЇ: СКЛАД І ПІДГОТОВКА</a:t>
            </a:r>
          </a:p>
        </p:txBody>
      </p:sp>
      <p:sp>
        <p:nvSpPr>
          <p:cNvPr id="6" name="TextBox 5"/>
          <p:cNvSpPr txBox="1"/>
          <p:nvPr/>
        </p:nvSpPr>
        <p:spPr>
          <a:xfrm>
            <a:off x="1428901" y="950976"/>
            <a:ext cx="9461539" cy="310896"/>
          </a:xfrm>
          <a:prstGeom prst="rect">
            <a:avLst/>
          </a:prstGeom>
          <a:noFill/>
        </p:spPr>
        <p:txBody>
          <a:bodyPr wrap="square" lIns="0" tIns="0" rIns="0" bIns="0" anchor="ctr">
            <a:spAutoFit/>
          </a:bodyPr>
          <a:lstStyle/>
          <a:p>
            <a:pPr algn="l">
              <a:lnSpc>
                <a:spcPct val="120000"/>
              </a:lnSpc>
            </a:pPr>
            <a:r>
              <a:rPr lang="uk-UA" sz="1250" b="0" i="0" noProof="0" dirty="0">
                <a:solidFill>
                  <a:srgbClr val="D2CCBC"/>
                </a:solidFill>
                <a:latin typeface="UAF Sans"/>
              </a:rPr>
              <a:t>Для успішного виконання розвідувальних (спеціальних) завдань доцільно</a:t>
            </a:r>
          </a:p>
        </p:txBody>
      </p:sp>
      <p:sp>
        <p:nvSpPr>
          <p:cNvPr id="7" name="Rectangle 6"/>
          <p:cNvSpPr/>
          <p:nvPr/>
        </p:nvSpPr>
        <p:spPr>
          <a:xfrm>
            <a:off x="11122152" y="475488"/>
            <a:ext cx="658368" cy="658368"/>
          </a:xfrm>
          <a:prstGeom prst="rect">
            <a:avLst/>
          </a:prstGeom>
          <a:noFill/>
          <a:ln w="19050">
            <a:solidFill>
              <a:srgbClr val="F39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sp>
        <p:nvSpPr>
          <p:cNvPr id="8" name="TextBox 7"/>
          <p:cNvSpPr txBox="1"/>
          <p:nvPr/>
        </p:nvSpPr>
        <p:spPr>
          <a:xfrm>
            <a:off x="11122152" y="612824"/>
            <a:ext cx="658368" cy="383695"/>
          </a:xfrm>
          <a:prstGeom prst="rect">
            <a:avLst/>
          </a:prstGeom>
          <a:noFill/>
        </p:spPr>
        <p:txBody>
          <a:bodyPr wrap="square" lIns="0" tIns="0" rIns="0" bIns="0" anchor="ctr">
            <a:spAutoFit/>
          </a:bodyPr>
          <a:lstStyle/>
          <a:p>
            <a:pPr algn="ctr">
              <a:lnSpc>
                <a:spcPct val="120000"/>
              </a:lnSpc>
            </a:pPr>
            <a:r>
              <a:rPr lang="uk-UA" sz="2200" b="1" i="0" noProof="0" dirty="0">
                <a:solidFill>
                  <a:srgbClr val="F39200"/>
                </a:solidFill>
                <a:latin typeface="UAF Sans"/>
              </a:rPr>
              <a:t>1</a:t>
            </a:r>
            <a:r>
              <a:rPr lang="uk-UA" sz="2200" b="1" dirty="0">
                <a:solidFill>
                  <a:srgbClr val="F39200"/>
                </a:solidFill>
                <a:latin typeface="UAF Sans"/>
              </a:rPr>
              <a:t>2</a:t>
            </a:r>
            <a:endParaRPr lang="uk-UA" sz="2200" b="1" i="0" noProof="0" dirty="0">
              <a:solidFill>
                <a:srgbClr val="F39200"/>
              </a:solidFill>
              <a:latin typeface="UAF Sans"/>
            </a:endParaRPr>
          </a:p>
        </p:txBody>
      </p:sp>
      <p:cxnSp>
        <p:nvCxnSpPr>
          <p:cNvPr id="10" name="Connector 9"/>
          <p:cNvCxnSpPr/>
          <p:nvPr/>
        </p:nvCxnSpPr>
        <p:spPr>
          <a:xfrm>
            <a:off x="411480" y="1481328"/>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nvGrpSpPr>
          <p:cNvPr id="49" name="Группа 48">
            <a:extLst>
              <a:ext uri="{FF2B5EF4-FFF2-40B4-BE49-F238E27FC236}">
                <a16:creationId xmlns:a16="http://schemas.microsoft.com/office/drawing/2014/main" id="{77CCB914-B377-00E4-1BF2-435BF8C4C2E7}"/>
              </a:ext>
            </a:extLst>
          </p:cNvPr>
          <p:cNvGrpSpPr/>
          <p:nvPr/>
        </p:nvGrpSpPr>
        <p:grpSpPr>
          <a:xfrm>
            <a:off x="411480" y="1426465"/>
            <a:ext cx="5593080" cy="1044203"/>
            <a:chOff x="411480" y="1481328"/>
            <a:chExt cx="5593080" cy="2322576"/>
          </a:xfrm>
        </p:grpSpPr>
        <p:sp>
          <p:nvSpPr>
            <p:cNvPr id="9" name="Rectangle 8"/>
            <p:cNvSpPr/>
            <p:nvPr/>
          </p:nvSpPr>
          <p:spPr>
            <a:xfrm>
              <a:off x="411480" y="1481328"/>
              <a:ext cx="5593080" cy="2322576"/>
            </a:xfrm>
            <a:prstGeom prst="rect">
              <a:avLst/>
            </a:prstGeom>
            <a:solidFill>
              <a:srgbClr val="38331F"/>
            </a:solidFill>
            <a:ln w="9525">
              <a:solidFill>
                <a:srgbClr val="6A62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uk-UA" noProof="0" dirty="0"/>
            </a:p>
          </p:txBody>
        </p:sp>
        <p:cxnSp>
          <p:nvCxnSpPr>
            <p:cNvPr id="12" name="Connector 11"/>
            <p:cNvCxnSpPr/>
            <p:nvPr/>
          </p:nvCxnSpPr>
          <p:spPr>
            <a:xfrm>
              <a:off x="5867400" y="3803904"/>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004560" y="3666744"/>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sp>
        <p:nvSpPr>
          <p:cNvPr id="14" name="TextBox 13"/>
          <p:cNvSpPr txBox="1"/>
          <p:nvPr/>
        </p:nvSpPr>
        <p:spPr>
          <a:xfrm>
            <a:off x="611480" y="1494168"/>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01</a:t>
            </a:r>
          </a:p>
        </p:txBody>
      </p:sp>
      <p:sp>
        <p:nvSpPr>
          <p:cNvPr id="15" name="TextBox 14"/>
          <p:cNvSpPr txBox="1"/>
          <p:nvPr/>
        </p:nvSpPr>
        <p:spPr>
          <a:xfrm>
            <a:off x="-624734" y="1565628"/>
            <a:ext cx="5386878" cy="184922"/>
          </a:xfrm>
          <a:prstGeom prst="rect">
            <a:avLst/>
          </a:prstGeom>
          <a:noFill/>
        </p:spPr>
        <p:txBody>
          <a:bodyPr wrap="square" lIns="0" tIns="0" rIns="0" bIns="0" anchor="ctr">
            <a:spAutoFit/>
          </a:bodyPr>
          <a:lstStyle/>
          <a:p>
            <a:pPr algn="ctr">
              <a:lnSpc>
                <a:spcPct val="110000"/>
              </a:lnSpc>
            </a:pPr>
            <a:r>
              <a:rPr lang="uk-UA" sz="1150" b="0" i="0" spc="60" noProof="0" dirty="0">
                <a:solidFill>
                  <a:srgbClr val="F7F5F0"/>
                </a:solidFill>
                <a:latin typeface="UAF Sans SemiBold"/>
              </a:rPr>
              <a:t>СКЛАД РОЗВІДУВАЛЬНИХ ГРУП</a:t>
            </a:r>
          </a:p>
        </p:txBody>
      </p:sp>
      <p:cxnSp>
        <p:nvCxnSpPr>
          <p:cNvPr id="16" name="Connector 15"/>
          <p:cNvCxnSpPr/>
          <p:nvPr/>
        </p:nvCxnSpPr>
        <p:spPr>
          <a:xfrm>
            <a:off x="611480" y="1833205"/>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11480" y="1967008"/>
            <a:ext cx="5193080" cy="216213"/>
          </a:xfrm>
          <a:prstGeom prst="rect">
            <a:avLst/>
          </a:prstGeom>
          <a:noFill/>
        </p:spPr>
        <p:txBody>
          <a:bodyPr wrap="square" lIns="0" tIns="0" rIns="0" bIns="0" anchor="t">
            <a:spAutoFit/>
          </a:bodyPr>
          <a:lstStyle/>
          <a:p>
            <a:pPr algn="l">
              <a:lnSpc>
                <a:spcPct val="125000"/>
              </a:lnSpc>
            </a:pPr>
            <a:r>
              <a:rPr lang="uk-UA" sz="1200" noProof="0" dirty="0">
                <a:solidFill>
                  <a:srgbClr val="D2CCBC"/>
                </a:solidFill>
                <a:latin typeface="UAF Sans"/>
              </a:rPr>
              <a:t>М</a:t>
            </a:r>
            <a:r>
              <a:rPr lang="uk-UA" sz="1200" b="0" i="0" noProof="0" dirty="0">
                <a:solidFill>
                  <a:srgbClr val="D2CCBC"/>
                </a:solidFill>
                <a:latin typeface="UAF Sans"/>
              </a:rPr>
              <a:t>алочисельні РГ складом 4–6 в</a:t>
            </a:r>
            <a:r>
              <a:rPr lang="uk-UA" sz="1200" noProof="0" dirty="0">
                <a:solidFill>
                  <a:srgbClr val="D2CCBC"/>
                </a:solidFill>
                <a:latin typeface="UAF Sans"/>
              </a:rPr>
              <a:t>/</a:t>
            </a:r>
            <a:r>
              <a:rPr lang="uk-UA" sz="1200" noProof="0" dirty="0" err="1">
                <a:solidFill>
                  <a:srgbClr val="D2CCBC"/>
                </a:solidFill>
                <a:latin typeface="UAF Sans"/>
              </a:rPr>
              <a:t>сл</a:t>
            </a:r>
            <a:r>
              <a:rPr lang="uk-UA" sz="1200" b="0" i="0" noProof="0" dirty="0">
                <a:solidFill>
                  <a:srgbClr val="D2CCBC"/>
                </a:solidFill>
                <a:latin typeface="UAF Sans"/>
              </a:rPr>
              <a:t>. </a:t>
            </a:r>
          </a:p>
        </p:txBody>
      </p:sp>
      <p:sp>
        <p:nvSpPr>
          <p:cNvPr id="23" name="TextBox 22"/>
          <p:cNvSpPr txBox="1"/>
          <p:nvPr/>
        </p:nvSpPr>
        <p:spPr>
          <a:xfrm>
            <a:off x="611481" y="2617479"/>
            <a:ext cx="700000" cy="261610"/>
          </a:xfrm>
          <a:prstGeom prst="rect">
            <a:avLst/>
          </a:prstGeom>
          <a:noFill/>
        </p:spPr>
        <p:txBody>
          <a:bodyPr wrap="square" lIns="0" tIns="0" rIns="0" bIns="0" anchor="t">
            <a:spAutoFit/>
          </a:bodyPr>
          <a:lstStyle/>
          <a:p>
            <a:pPr algn="l">
              <a:lnSpc>
                <a:spcPct val="120000"/>
              </a:lnSpc>
            </a:pPr>
            <a:r>
              <a:rPr lang="uk-UA" sz="1500" b="1" i="0" noProof="0" dirty="0">
                <a:solidFill>
                  <a:srgbClr val="F39200"/>
                </a:solidFill>
                <a:latin typeface="UAF Sans"/>
              </a:rPr>
              <a:t>02</a:t>
            </a:r>
          </a:p>
        </p:txBody>
      </p:sp>
      <p:sp>
        <p:nvSpPr>
          <p:cNvPr id="24" name="TextBox 23"/>
          <p:cNvSpPr txBox="1"/>
          <p:nvPr/>
        </p:nvSpPr>
        <p:spPr>
          <a:xfrm>
            <a:off x="-1100063" y="2690063"/>
            <a:ext cx="5386879" cy="184922"/>
          </a:xfrm>
          <a:prstGeom prst="rect">
            <a:avLst/>
          </a:prstGeom>
          <a:noFill/>
        </p:spPr>
        <p:txBody>
          <a:bodyPr wrap="square" lIns="0" tIns="0" rIns="0" bIns="0" anchor="ctr">
            <a:spAutoFit/>
          </a:bodyPr>
          <a:lstStyle/>
          <a:p>
            <a:pPr algn="ctr">
              <a:lnSpc>
                <a:spcPct val="110000"/>
              </a:lnSpc>
            </a:pPr>
            <a:r>
              <a:rPr lang="uk-UA" sz="1150" b="0" i="0" spc="60" noProof="0" dirty="0">
                <a:solidFill>
                  <a:srgbClr val="F7F5F0"/>
                </a:solidFill>
                <a:latin typeface="UAF Sans SemiBold"/>
              </a:rPr>
              <a:t>АВТОНОМНІСТЬ</a:t>
            </a:r>
          </a:p>
        </p:txBody>
      </p:sp>
      <p:cxnSp>
        <p:nvCxnSpPr>
          <p:cNvPr id="25" name="Connector 24"/>
          <p:cNvCxnSpPr/>
          <p:nvPr/>
        </p:nvCxnSpPr>
        <p:spPr>
          <a:xfrm>
            <a:off x="611481" y="2939211"/>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99394" y="3035421"/>
            <a:ext cx="5193080" cy="447045"/>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Підготовка з урахуванням повної автономності розвідувальних підрозділів до 3–7 діб.</a:t>
            </a:r>
          </a:p>
        </p:txBody>
      </p:sp>
      <p:sp>
        <p:nvSpPr>
          <p:cNvPr id="32" name="TextBox 31"/>
          <p:cNvSpPr txBox="1"/>
          <p:nvPr/>
        </p:nvSpPr>
        <p:spPr>
          <a:xfrm>
            <a:off x="611481" y="3907862"/>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03</a:t>
            </a:r>
          </a:p>
        </p:txBody>
      </p:sp>
      <p:sp>
        <p:nvSpPr>
          <p:cNvPr id="33" name="TextBox 32"/>
          <p:cNvSpPr txBox="1"/>
          <p:nvPr/>
        </p:nvSpPr>
        <p:spPr>
          <a:xfrm>
            <a:off x="-918596" y="3963323"/>
            <a:ext cx="5489890" cy="189527"/>
          </a:xfrm>
          <a:prstGeom prst="rect">
            <a:avLst/>
          </a:prstGeom>
          <a:noFill/>
        </p:spPr>
        <p:txBody>
          <a:bodyPr wrap="square" lIns="0" tIns="0" rIns="0" bIns="0" anchor="ctr">
            <a:spAutoFit/>
          </a:bodyPr>
          <a:lstStyle/>
          <a:p>
            <a:pPr algn="ctr">
              <a:lnSpc>
                <a:spcPct val="110000"/>
              </a:lnSpc>
            </a:pPr>
            <a:r>
              <a:rPr lang="uk-UA" sz="1150" b="0" i="0" spc="60" noProof="0" dirty="0">
                <a:solidFill>
                  <a:srgbClr val="F7F5F0"/>
                </a:solidFill>
                <a:latin typeface="UAF Sans SemiBold"/>
              </a:rPr>
              <a:t>ТАКТИЧНА ПІДГОТОВКА</a:t>
            </a:r>
          </a:p>
        </p:txBody>
      </p:sp>
      <p:cxnSp>
        <p:nvCxnSpPr>
          <p:cNvPr id="34" name="Connector 33"/>
          <p:cNvCxnSpPr/>
          <p:nvPr/>
        </p:nvCxnSpPr>
        <p:spPr>
          <a:xfrm>
            <a:off x="611481" y="4247312"/>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82030" y="4378335"/>
            <a:ext cx="5193080" cy="216213"/>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Підготовка на місцевості наближеній до району майбутніх дій.</a:t>
            </a:r>
          </a:p>
        </p:txBody>
      </p:sp>
      <p:sp>
        <p:nvSpPr>
          <p:cNvPr id="41" name="TextBox 40"/>
          <p:cNvSpPr txBox="1"/>
          <p:nvPr/>
        </p:nvSpPr>
        <p:spPr>
          <a:xfrm>
            <a:off x="611481" y="5053662"/>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04</a:t>
            </a:r>
          </a:p>
        </p:txBody>
      </p:sp>
      <p:sp>
        <p:nvSpPr>
          <p:cNvPr id="42" name="TextBox 41"/>
          <p:cNvSpPr txBox="1"/>
          <p:nvPr/>
        </p:nvSpPr>
        <p:spPr>
          <a:xfrm>
            <a:off x="-810040" y="5104444"/>
            <a:ext cx="5581328" cy="184922"/>
          </a:xfrm>
          <a:prstGeom prst="rect">
            <a:avLst/>
          </a:prstGeom>
          <a:noFill/>
        </p:spPr>
        <p:txBody>
          <a:bodyPr wrap="square" lIns="0" tIns="0" rIns="0" bIns="0" anchor="ctr">
            <a:spAutoFit/>
          </a:bodyPr>
          <a:lstStyle/>
          <a:p>
            <a:pPr algn="ctr">
              <a:lnSpc>
                <a:spcPct val="110000"/>
              </a:lnSpc>
            </a:pPr>
            <a:r>
              <a:rPr lang="uk-UA" sz="1150" b="0" i="0" spc="60" noProof="0" dirty="0">
                <a:solidFill>
                  <a:srgbClr val="F7F5F0"/>
                </a:solidFill>
                <a:latin typeface="UAF Sans SemiBold"/>
              </a:rPr>
              <a:t>ТЕХНІЧНІ ЗАСОБИ РОЗВІДКИ</a:t>
            </a:r>
          </a:p>
        </p:txBody>
      </p:sp>
      <p:cxnSp>
        <p:nvCxnSpPr>
          <p:cNvPr id="43" name="Connector 42"/>
          <p:cNvCxnSpPr/>
          <p:nvPr/>
        </p:nvCxnSpPr>
        <p:spPr>
          <a:xfrm>
            <a:off x="611481" y="5411523"/>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82030" y="5509426"/>
            <a:ext cx="5193080" cy="447045"/>
          </a:xfrm>
          <a:prstGeom prst="rect">
            <a:avLst/>
          </a:prstGeom>
          <a:noFill/>
        </p:spPr>
        <p:txBody>
          <a:bodyPr wrap="square" lIns="0" tIns="0" rIns="0" bIns="0" anchor="t">
            <a:spAutoFit/>
          </a:bodyPr>
          <a:lstStyle/>
          <a:p>
            <a:pPr algn="l">
              <a:lnSpc>
                <a:spcPct val="125000"/>
              </a:lnSpc>
            </a:pPr>
            <a:r>
              <a:rPr lang="uk-UA" sz="1200" noProof="0" dirty="0">
                <a:solidFill>
                  <a:srgbClr val="D2CCBC"/>
                </a:solidFill>
                <a:latin typeface="UAF Sans"/>
              </a:rPr>
              <a:t>З</a:t>
            </a:r>
            <a:r>
              <a:rPr lang="uk-UA" sz="1200" b="0" i="0" noProof="0" dirty="0">
                <a:solidFill>
                  <a:srgbClr val="D2CCBC"/>
                </a:solidFill>
                <a:latin typeface="UAF Sans"/>
              </a:rPr>
              <a:t>астосовувати ПНБ, </a:t>
            </a:r>
            <a:r>
              <a:rPr lang="uk-UA" sz="1200" b="0" i="0" noProof="0" dirty="0" err="1">
                <a:solidFill>
                  <a:srgbClr val="D2CCBC"/>
                </a:solidFill>
                <a:latin typeface="UAF Sans"/>
              </a:rPr>
              <a:t>тепловізійні</a:t>
            </a:r>
            <a:r>
              <a:rPr lang="uk-UA" sz="1200" b="0" i="0" noProof="0" dirty="0">
                <a:solidFill>
                  <a:srgbClr val="D2CCBC"/>
                </a:solidFill>
                <a:latin typeface="UAF Sans"/>
              </a:rPr>
              <a:t> прилади, </a:t>
            </a:r>
            <a:r>
              <a:rPr lang="uk-UA" sz="1200" b="0" i="0" noProof="0" dirty="0" err="1">
                <a:solidFill>
                  <a:srgbClr val="D2CCBC"/>
                </a:solidFill>
                <a:latin typeface="UAF Sans"/>
              </a:rPr>
              <a:t>БпЛА</a:t>
            </a:r>
            <a:r>
              <a:rPr lang="uk-UA" sz="1200" b="0" i="0" noProof="0" dirty="0">
                <a:solidFill>
                  <a:srgbClr val="D2CCBC"/>
                </a:solidFill>
                <a:latin typeface="UAF Sans"/>
              </a:rPr>
              <a:t> малого радіусу дії (DJI </a:t>
            </a:r>
            <a:r>
              <a:rPr lang="uk-UA" sz="1200" b="0" i="0" noProof="0" dirty="0" err="1">
                <a:solidFill>
                  <a:srgbClr val="D2CCBC"/>
                </a:solidFill>
                <a:latin typeface="UAF Sans"/>
              </a:rPr>
              <a:t>Avata</a:t>
            </a:r>
            <a:r>
              <a:rPr lang="uk-UA" sz="1200" b="0" i="0" noProof="0" dirty="0">
                <a:solidFill>
                  <a:srgbClr val="D2CCBC"/>
                </a:solidFill>
                <a:latin typeface="UAF Sans"/>
              </a:rPr>
              <a:t>, </a:t>
            </a:r>
            <a:r>
              <a:rPr lang="uk-UA" sz="1200" b="0" i="0" noProof="0" dirty="0" err="1">
                <a:solidFill>
                  <a:srgbClr val="D2CCBC"/>
                </a:solidFill>
                <a:latin typeface="UAF Sans"/>
              </a:rPr>
              <a:t>Black</a:t>
            </a:r>
            <a:r>
              <a:rPr lang="uk-UA" sz="1200" b="0" i="0" noProof="0" dirty="0">
                <a:solidFill>
                  <a:srgbClr val="D2CCBC"/>
                </a:solidFill>
                <a:latin typeface="UAF Sans"/>
              </a:rPr>
              <a:t> </a:t>
            </a:r>
            <a:r>
              <a:rPr lang="uk-UA" sz="1200" b="0" i="0" noProof="0" dirty="0" err="1">
                <a:solidFill>
                  <a:srgbClr val="D2CCBC"/>
                </a:solidFill>
                <a:latin typeface="UAF Sans"/>
              </a:rPr>
              <a:t>Hornet</a:t>
            </a:r>
            <a:r>
              <a:rPr lang="uk-UA" sz="1200" noProof="0" dirty="0">
                <a:solidFill>
                  <a:srgbClr val="D2CCBC"/>
                </a:solidFill>
                <a:latin typeface="UAF Sans"/>
              </a:rPr>
              <a:t>)</a:t>
            </a:r>
            <a:r>
              <a:rPr lang="uk-UA" sz="1200" b="0" i="0" noProof="0" dirty="0">
                <a:solidFill>
                  <a:srgbClr val="D2CCBC"/>
                </a:solidFill>
                <a:latin typeface="UAF Sans"/>
              </a:rPr>
              <a:t>.</a:t>
            </a:r>
          </a:p>
        </p:txBody>
      </p:sp>
      <p:sp>
        <p:nvSpPr>
          <p:cNvPr id="45" name="TextBox 44"/>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sp>
        <p:nvSpPr>
          <p:cNvPr id="56" name="TextBox 55">
            <a:extLst>
              <a:ext uri="{FF2B5EF4-FFF2-40B4-BE49-F238E27FC236}">
                <a16:creationId xmlns:a16="http://schemas.microsoft.com/office/drawing/2014/main" id="{6F08DB55-D39F-CAE4-6550-49E5F95B7999}"/>
              </a:ext>
            </a:extLst>
          </p:cNvPr>
          <p:cNvSpPr txBox="1"/>
          <p:nvPr/>
        </p:nvSpPr>
        <p:spPr>
          <a:xfrm>
            <a:off x="6410499" y="1487414"/>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05</a:t>
            </a:r>
          </a:p>
        </p:txBody>
      </p:sp>
      <p:sp>
        <p:nvSpPr>
          <p:cNvPr id="58" name="TextBox 57">
            <a:extLst>
              <a:ext uri="{FF2B5EF4-FFF2-40B4-BE49-F238E27FC236}">
                <a16:creationId xmlns:a16="http://schemas.microsoft.com/office/drawing/2014/main" id="{57574389-310D-6D0E-D8D5-B8CA54FE3CB9}"/>
              </a:ext>
            </a:extLst>
          </p:cNvPr>
          <p:cNvSpPr txBox="1"/>
          <p:nvPr/>
        </p:nvSpPr>
        <p:spPr>
          <a:xfrm>
            <a:off x="4888828" y="1578798"/>
            <a:ext cx="5458968" cy="184922"/>
          </a:xfrm>
          <a:prstGeom prst="rect">
            <a:avLst/>
          </a:prstGeom>
          <a:noFill/>
        </p:spPr>
        <p:txBody>
          <a:bodyPr wrap="square" lIns="0" tIns="0" rIns="0" bIns="0" anchor="ctr">
            <a:spAutoFit/>
          </a:bodyPr>
          <a:lstStyle/>
          <a:p>
            <a:pPr algn="ctr">
              <a:lnSpc>
                <a:spcPct val="110000"/>
              </a:lnSpc>
            </a:pPr>
            <a:r>
              <a:rPr lang="uk-UA" sz="1150" b="0" i="0" spc="60" noProof="0" dirty="0">
                <a:solidFill>
                  <a:srgbClr val="F7F5F0"/>
                </a:solidFill>
                <a:latin typeface="UAF Sans SemiBold"/>
              </a:rPr>
              <a:t>РОЗВІДКА МАРШРУТІВ</a:t>
            </a:r>
          </a:p>
        </p:txBody>
      </p:sp>
      <p:sp>
        <p:nvSpPr>
          <p:cNvPr id="60" name="TextBox 59">
            <a:extLst>
              <a:ext uri="{FF2B5EF4-FFF2-40B4-BE49-F238E27FC236}">
                <a16:creationId xmlns:a16="http://schemas.microsoft.com/office/drawing/2014/main" id="{27F8171F-95EE-FD01-25F4-C79C4ED00590}"/>
              </a:ext>
            </a:extLst>
          </p:cNvPr>
          <p:cNvSpPr txBox="1"/>
          <p:nvPr/>
        </p:nvSpPr>
        <p:spPr>
          <a:xfrm>
            <a:off x="6410499" y="1854621"/>
            <a:ext cx="5193080" cy="447045"/>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Проводити інженерну та повітряну розвідку всіх маршрутів висування і районів висадки.</a:t>
            </a:r>
          </a:p>
        </p:txBody>
      </p:sp>
      <p:sp>
        <p:nvSpPr>
          <p:cNvPr id="64" name="TextBox 63">
            <a:extLst>
              <a:ext uri="{FF2B5EF4-FFF2-40B4-BE49-F238E27FC236}">
                <a16:creationId xmlns:a16="http://schemas.microsoft.com/office/drawing/2014/main" id="{7B12542D-5963-4550-0CBC-0B71C90AEAB1}"/>
              </a:ext>
            </a:extLst>
          </p:cNvPr>
          <p:cNvSpPr txBox="1"/>
          <p:nvPr/>
        </p:nvSpPr>
        <p:spPr>
          <a:xfrm>
            <a:off x="6409123" y="2653613"/>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06</a:t>
            </a:r>
          </a:p>
        </p:txBody>
      </p:sp>
      <p:sp>
        <p:nvSpPr>
          <p:cNvPr id="66" name="TextBox 65">
            <a:extLst>
              <a:ext uri="{FF2B5EF4-FFF2-40B4-BE49-F238E27FC236}">
                <a16:creationId xmlns:a16="http://schemas.microsoft.com/office/drawing/2014/main" id="{63C4EF03-4465-8B5D-1EAF-5459AAAF7495}"/>
              </a:ext>
            </a:extLst>
          </p:cNvPr>
          <p:cNvSpPr txBox="1"/>
          <p:nvPr/>
        </p:nvSpPr>
        <p:spPr>
          <a:xfrm>
            <a:off x="5192168" y="2728342"/>
            <a:ext cx="5374073" cy="184922"/>
          </a:xfrm>
          <a:prstGeom prst="rect">
            <a:avLst/>
          </a:prstGeom>
          <a:noFill/>
        </p:spPr>
        <p:txBody>
          <a:bodyPr wrap="square" lIns="0" tIns="0" rIns="0" bIns="0" anchor="ctr">
            <a:spAutoFit/>
          </a:bodyPr>
          <a:lstStyle/>
          <a:p>
            <a:pPr algn="ctr">
              <a:lnSpc>
                <a:spcPct val="110000"/>
              </a:lnSpc>
            </a:pPr>
            <a:r>
              <a:rPr lang="uk-UA" sz="1150" b="0" i="0" spc="60" noProof="0" dirty="0">
                <a:solidFill>
                  <a:srgbClr val="F7F5F0"/>
                </a:solidFill>
                <a:latin typeface="UAF Sans SemiBold"/>
              </a:rPr>
              <a:t>ТРАНСПОРТНЕ ЗАБЕЗПЕЧЕННЯ</a:t>
            </a:r>
          </a:p>
        </p:txBody>
      </p:sp>
      <p:sp>
        <p:nvSpPr>
          <p:cNvPr id="68" name="TextBox 67">
            <a:extLst>
              <a:ext uri="{FF2B5EF4-FFF2-40B4-BE49-F238E27FC236}">
                <a16:creationId xmlns:a16="http://schemas.microsoft.com/office/drawing/2014/main" id="{47F2973A-BA41-4BE2-C2EF-23C0CA7C52DF}"/>
              </a:ext>
            </a:extLst>
          </p:cNvPr>
          <p:cNvSpPr txBox="1"/>
          <p:nvPr/>
        </p:nvSpPr>
        <p:spPr>
          <a:xfrm>
            <a:off x="6495575" y="3044737"/>
            <a:ext cx="5193080" cy="447045"/>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Вивід РГ та евакуацію здійснювати транспортними засобами підвищеної прохідності; забезпечення — НРК та </a:t>
            </a:r>
            <a:r>
              <a:rPr lang="uk-UA" sz="1200" b="0" i="0" noProof="0" dirty="0" err="1">
                <a:solidFill>
                  <a:srgbClr val="D2CCBC"/>
                </a:solidFill>
                <a:latin typeface="UAF Sans"/>
              </a:rPr>
              <a:t>БпЛА</a:t>
            </a:r>
            <a:r>
              <a:rPr lang="uk-UA" sz="1200" b="0" i="0" noProof="0" dirty="0">
                <a:solidFill>
                  <a:srgbClr val="D2CCBC"/>
                </a:solidFill>
                <a:latin typeface="UAF Sans"/>
              </a:rPr>
              <a:t>.</a:t>
            </a:r>
          </a:p>
        </p:txBody>
      </p:sp>
      <p:sp>
        <p:nvSpPr>
          <p:cNvPr id="72" name="TextBox 71">
            <a:extLst>
              <a:ext uri="{FF2B5EF4-FFF2-40B4-BE49-F238E27FC236}">
                <a16:creationId xmlns:a16="http://schemas.microsoft.com/office/drawing/2014/main" id="{83E8841C-8529-EC16-9175-B1A9D419CD40}"/>
              </a:ext>
            </a:extLst>
          </p:cNvPr>
          <p:cNvSpPr txBox="1"/>
          <p:nvPr/>
        </p:nvSpPr>
        <p:spPr>
          <a:xfrm>
            <a:off x="6410499" y="3872637"/>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07</a:t>
            </a:r>
          </a:p>
        </p:txBody>
      </p:sp>
      <p:sp>
        <p:nvSpPr>
          <p:cNvPr id="74" name="TextBox 73">
            <a:extLst>
              <a:ext uri="{FF2B5EF4-FFF2-40B4-BE49-F238E27FC236}">
                <a16:creationId xmlns:a16="http://schemas.microsoft.com/office/drawing/2014/main" id="{A6D52003-D938-1A84-D5CB-53A40313B27E}"/>
              </a:ext>
            </a:extLst>
          </p:cNvPr>
          <p:cNvSpPr txBox="1"/>
          <p:nvPr/>
        </p:nvSpPr>
        <p:spPr>
          <a:xfrm>
            <a:off x="6857910" y="3963323"/>
            <a:ext cx="1577631" cy="184922"/>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ВОГНЕВЕ УРАЖЕННЯ</a:t>
            </a:r>
          </a:p>
        </p:txBody>
      </p:sp>
      <p:sp>
        <p:nvSpPr>
          <p:cNvPr id="76" name="TextBox 75">
            <a:extLst>
              <a:ext uri="{FF2B5EF4-FFF2-40B4-BE49-F238E27FC236}">
                <a16:creationId xmlns:a16="http://schemas.microsoft.com/office/drawing/2014/main" id="{32FCC5B1-2947-55DB-136B-8588AB9FF7EF}"/>
              </a:ext>
            </a:extLst>
          </p:cNvPr>
          <p:cNvSpPr txBox="1"/>
          <p:nvPr/>
        </p:nvSpPr>
        <p:spPr>
          <a:xfrm>
            <a:off x="6432735" y="4244104"/>
            <a:ext cx="5193080" cy="447045"/>
          </a:xfrm>
          <a:prstGeom prst="rect">
            <a:avLst/>
          </a:prstGeom>
          <a:noFill/>
        </p:spPr>
        <p:txBody>
          <a:bodyPr wrap="square" lIns="0" tIns="0" rIns="0" bIns="0" anchor="t">
            <a:spAutoFit/>
          </a:bodyPr>
          <a:lstStyle/>
          <a:p>
            <a:pPr algn="l">
              <a:lnSpc>
                <a:spcPct val="125000"/>
              </a:lnSpc>
            </a:pPr>
            <a:r>
              <a:rPr lang="uk-UA" sz="1200" b="0" i="0" noProof="0" dirty="0" err="1">
                <a:solidFill>
                  <a:srgbClr val="D2CCBC"/>
                </a:solidFill>
                <a:latin typeface="UAF Sans"/>
              </a:rPr>
              <a:t>Наносення</a:t>
            </a:r>
            <a:r>
              <a:rPr lang="uk-UA" sz="1200" b="0" i="0" noProof="0" dirty="0">
                <a:solidFill>
                  <a:srgbClr val="D2CCBC"/>
                </a:solidFill>
                <a:latin typeface="UAF Sans"/>
              </a:rPr>
              <a:t> вогневого ураження FPV-</a:t>
            </a:r>
            <a:r>
              <a:rPr lang="uk-UA" sz="1200" b="0" i="0" noProof="0" dirty="0" err="1">
                <a:solidFill>
                  <a:srgbClr val="D2CCBC"/>
                </a:solidFill>
                <a:latin typeface="UAF Sans"/>
              </a:rPr>
              <a:t>дронами</a:t>
            </a:r>
            <a:r>
              <a:rPr lang="uk-UA" sz="1200" b="0" i="0" noProof="0" dirty="0">
                <a:solidFill>
                  <a:srgbClr val="D2CCBC"/>
                </a:solidFill>
                <a:latin typeface="UAF Sans"/>
              </a:rPr>
              <a:t> та артилерією з метою виманювання о/с з </a:t>
            </a:r>
            <a:r>
              <a:rPr lang="uk-UA" sz="1200" b="0" i="0" noProof="0" dirty="0" err="1">
                <a:solidFill>
                  <a:srgbClr val="D2CCBC"/>
                </a:solidFill>
                <a:latin typeface="UAF Sans"/>
              </a:rPr>
              <a:t>укриттів</a:t>
            </a:r>
            <a:endParaRPr lang="uk-UA" sz="1200" b="0" i="0" noProof="0" dirty="0">
              <a:solidFill>
                <a:srgbClr val="D2CCBC"/>
              </a:solidFill>
              <a:latin typeface="UAF Sans"/>
            </a:endParaRPr>
          </a:p>
        </p:txBody>
      </p:sp>
      <p:sp>
        <p:nvSpPr>
          <p:cNvPr id="80" name="TextBox 79">
            <a:extLst>
              <a:ext uri="{FF2B5EF4-FFF2-40B4-BE49-F238E27FC236}">
                <a16:creationId xmlns:a16="http://schemas.microsoft.com/office/drawing/2014/main" id="{94033B6E-4C84-A594-B2FF-4690E7965961}"/>
              </a:ext>
            </a:extLst>
          </p:cNvPr>
          <p:cNvSpPr txBox="1"/>
          <p:nvPr/>
        </p:nvSpPr>
        <p:spPr>
          <a:xfrm>
            <a:off x="6911460" y="5024810"/>
            <a:ext cx="4493080" cy="420000"/>
          </a:xfrm>
          <a:prstGeom prst="rect">
            <a:avLst/>
          </a:prstGeom>
          <a:noFill/>
        </p:spPr>
        <p:txBody>
          <a:bodyPr wrap="square" lIns="0" tIns="0" rIns="0" bIns="0" anchor="ctr">
            <a:spAutoFit/>
          </a:bodyPr>
          <a:lstStyle/>
          <a:p>
            <a:pPr algn="l">
              <a:lnSpc>
                <a:spcPct val="110000"/>
              </a:lnSpc>
            </a:pPr>
            <a:r>
              <a:rPr lang="uk-UA" sz="1150" b="0" i="0" spc="60" noProof="0" dirty="0">
                <a:solidFill>
                  <a:srgbClr val="F7F5F0"/>
                </a:solidFill>
                <a:latin typeface="UAF Sans SemiBold"/>
              </a:rPr>
              <a:t>ПРЕДСТАВНИК НА КСП</a:t>
            </a:r>
          </a:p>
        </p:txBody>
      </p:sp>
      <p:sp>
        <p:nvSpPr>
          <p:cNvPr id="82" name="TextBox 81">
            <a:extLst>
              <a:ext uri="{FF2B5EF4-FFF2-40B4-BE49-F238E27FC236}">
                <a16:creationId xmlns:a16="http://schemas.microsoft.com/office/drawing/2014/main" id="{3DFB2AB0-25F7-D9B8-07C9-7A11FA7F4D62}"/>
              </a:ext>
            </a:extLst>
          </p:cNvPr>
          <p:cNvSpPr txBox="1"/>
          <p:nvPr/>
        </p:nvSpPr>
        <p:spPr>
          <a:xfrm>
            <a:off x="6432735" y="5451849"/>
            <a:ext cx="5231148" cy="447045"/>
          </a:xfrm>
          <a:prstGeom prst="rect">
            <a:avLst/>
          </a:prstGeom>
          <a:noFill/>
        </p:spPr>
        <p:txBody>
          <a:bodyPr wrap="square" lIns="0" tIns="0" rIns="0" bIns="0" anchor="t">
            <a:spAutoFit/>
          </a:bodyPr>
          <a:lstStyle/>
          <a:p>
            <a:pPr algn="l">
              <a:lnSpc>
                <a:spcPct val="125000"/>
              </a:lnSpc>
            </a:pPr>
            <a:r>
              <a:rPr lang="uk-UA" sz="1200" b="0" i="0" noProof="0" dirty="0">
                <a:solidFill>
                  <a:srgbClr val="D2CCBC"/>
                </a:solidFill>
                <a:latin typeface="UAF Sans"/>
              </a:rPr>
              <a:t>Для обміну інформацією, координації дій та організації зв’язку з підрозділами вогневої підтримки та екіпажами </a:t>
            </a:r>
            <a:r>
              <a:rPr lang="uk-UA" sz="1200" b="0" i="0" noProof="0" dirty="0" err="1">
                <a:solidFill>
                  <a:srgbClr val="D2CCBC"/>
                </a:solidFill>
                <a:latin typeface="UAF Sans"/>
              </a:rPr>
              <a:t>БпЛА</a:t>
            </a:r>
            <a:r>
              <a:rPr lang="uk-UA" sz="1200" noProof="0" dirty="0">
                <a:solidFill>
                  <a:srgbClr val="D2CCBC"/>
                </a:solidFill>
                <a:latin typeface="UAF Sans"/>
              </a:rPr>
              <a:t>.</a:t>
            </a:r>
            <a:endParaRPr lang="uk-UA" sz="1200" b="0" i="0" noProof="0" dirty="0">
              <a:solidFill>
                <a:srgbClr val="D2CCBC"/>
              </a:solidFill>
              <a:latin typeface="UAF Sans"/>
            </a:endParaRPr>
          </a:p>
        </p:txBody>
      </p:sp>
      <p:sp>
        <p:nvSpPr>
          <p:cNvPr id="84" name="TextBox 83">
            <a:extLst>
              <a:ext uri="{FF2B5EF4-FFF2-40B4-BE49-F238E27FC236}">
                <a16:creationId xmlns:a16="http://schemas.microsoft.com/office/drawing/2014/main" id="{03205879-F1F9-3B8D-32B6-719BAEDB5DA7}"/>
              </a:ext>
            </a:extLst>
          </p:cNvPr>
          <p:cNvSpPr txBox="1"/>
          <p:nvPr/>
        </p:nvSpPr>
        <p:spPr>
          <a:xfrm>
            <a:off x="6416042" y="5087446"/>
            <a:ext cx="700000" cy="279051"/>
          </a:xfrm>
          <a:prstGeom prst="rect">
            <a:avLst/>
          </a:prstGeom>
          <a:noFill/>
        </p:spPr>
        <p:txBody>
          <a:bodyPr wrap="square" lIns="0" tIns="0" rIns="0" bIns="0" anchor="t">
            <a:spAutoFit/>
          </a:bodyPr>
          <a:lstStyle/>
          <a:p>
            <a:pPr algn="l">
              <a:lnSpc>
                <a:spcPct val="120000"/>
              </a:lnSpc>
            </a:pPr>
            <a:r>
              <a:rPr lang="uk-UA" sz="1600" b="1" i="0" noProof="0" dirty="0">
                <a:solidFill>
                  <a:srgbClr val="F39200"/>
                </a:solidFill>
                <a:latin typeface="UAF Sans"/>
              </a:rPr>
              <a:t>08</a:t>
            </a:r>
          </a:p>
        </p:txBody>
      </p:sp>
      <p:cxnSp>
        <p:nvCxnSpPr>
          <p:cNvPr id="85" name="Connector 15">
            <a:extLst>
              <a:ext uri="{FF2B5EF4-FFF2-40B4-BE49-F238E27FC236}">
                <a16:creationId xmlns:a16="http://schemas.microsoft.com/office/drawing/2014/main" id="{1AA94B8F-5440-17A3-A9BA-BC275E92C328}"/>
              </a:ext>
            </a:extLst>
          </p:cNvPr>
          <p:cNvCxnSpPr/>
          <p:nvPr/>
        </p:nvCxnSpPr>
        <p:spPr>
          <a:xfrm>
            <a:off x="6393435" y="1825773"/>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8" name="Connector 15">
            <a:extLst>
              <a:ext uri="{FF2B5EF4-FFF2-40B4-BE49-F238E27FC236}">
                <a16:creationId xmlns:a16="http://schemas.microsoft.com/office/drawing/2014/main" id="{F5FE3DCC-C8B9-DDB8-0200-DD8B0E2FEEDA}"/>
              </a:ext>
            </a:extLst>
          </p:cNvPr>
          <p:cNvCxnSpPr/>
          <p:nvPr/>
        </p:nvCxnSpPr>
        <p:spPr>
          <a:xfrm>
            <a:off x="6409123" y="2978856"/>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9" name="Connector 15">
            <a:extLst>
              <a:ext uri="{FF2B5EF4-FFF2-40B4-BE49-F238E27FC236}">
                <a16:creationId xmlns:a16="http://schemas.microsoft.com/office/drawing/2014/main" id="{4EA58E6A-99F5-11EE-A5E1-183DE800C73F}"/>
              </a:ext>
            </a:extLst>
          </p:cNvPr>
          <p:cNvCxnSpPr/>
          <p:nvPr/>
        </p:nvCxnSpPr>
        <p:spPr>
          <a:xfrm>
            <a:off x="6416042" y="4214791"/>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20" name="Connector 15">
            <a:extLst>
              <a:ext uri="{FF2B5EF4-FFF2-40B4-BE49-F238E27FC236}">
                <a16:creationId xmlns:a16="http://schemas.microsoft.com/office/drawing/2014/main" id="{37EAF4AF-E513-F66C-9461-6E4CFDD37C10}"/>
              </a:ext>
            </a:extLst>
          </p:cNvPr>
          <p:cNvCxnSpPr/>
          <p:nvPr/>
        </p:nvCxnSpPr>
        <p:spPr>
          <a:xfrm>
            <a:off x="6432735" y="5390910"/>
            <a:ext cx="280000" cy="0"/>
          </a:xfrm>
          <a:prstGeom prst="line">
            <a:avLst/>
          </a:prstGeom>
          <a:ln w="15875">
            <a:solidFill>
              <a:srgbClr val="F39200"/>
            </a:solidFill>
          </a:ln>
        </p:spPr>
        <p:style>
          <a:lnRef idx="2">
            <a:schemeClr val="accent1"/>
          </a:lnRef>
          <a:fillRef idx="0">
            <a:schemeClr val="accent1"/>
          </a:fillRef>
          <a:effectRef idx="1">
            <a:schemeClr val="accent1"/>
          </a:effectRef>
          <a:fontRef idx="minor">
            <a:schemeClr val="tx1"/>
          </a:fontRef>
        </p:style>
      </p:cxnSp>
      <p:grpSp>
        <p:nvGrpSpPr>
          <p:cNvPr id="123" name="Группа 122">
            <a:extLst>
              <a:ext uri="{FF2B5EF4-FFF2-40B4-BE49-F238E27FC236}">
                <a16:creationId xmlns:a16="http://schemas.microsoft.com/office/drawing/2014/main" id="{CD732D5D-36E6-38E9-3C9F-A09D10472EDC}"/>
              </a:ext>
            </a:extLst>
          </p:cNvPr>
          <p:cNvGrpSpPr/>
          <p:nvPr/>
        </p:nvGrpSpPr>
        <p:grpSpPr>
          <a:xfrm>
            <a:off x="417682" y="1432051"/>
            <a:ext cx="137160" cy="137160"/>
            <a:chOff x="417682" y="1432051"/>
            <a:chExt cx="137160" cy="137160"/>
          </a:xfrm>
        </p:grpSpPr>
        <p:cxnSp>
          <p:nvCxnSpPr>
            <p:cNvPr id="121" name="Connector 9">
              <a:extLst>
                <a:ext uri="{FF2B5EF4-FFF2-40B4-BE49-F238E27FC236}">
                  <a16:creationId xmlns:a16="http://schemas.microsoft.com/office/drawing/2014/main" id="{992C65AD-4B0E-3ACE-20D3-D8D539A05EE6}"/>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22" name="Connector 10">
              <a:extLst>
                <a:ext uri="{FF2B5EF4-FFF2-40B4-BE49-F238E27FC236}">
                  <a16:creationId xmlns:a16="http://schemas.microsoft.com/office/drawing/2014/main" id="{3A69B132-3E42-758D-D104-28502C61DB77}"/>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24" name="Группа 123">
            <a:extLst>
              <a:ext uri="{FF2B5EF4-FFF2-40B4-BE49-F238E27FC236}">
                <a16:creationId xmlns:a16="http://schemas.microsoft.com/office/drawing/2014/main" id="{746EAE60-4408-13AC-F636-E1CCD872ACDC}"/>
              </a:ext>
            </a:extLst>
          </p:cNvPr>
          <p:cNvGrpSpPr/>
          <p:nvPr/>
        </p:nvGrpSpPr>
        <p:grpSpPr>
          <a:xfrm>
            <a:off x="423778" y="2626867"/>
            <a:ext cx="137160" cy="137160"/>
            <a:chOff x="417682" y="1432051"/>
            <a:chExt cx="137160" cy="137160"/>
          </a:xfrm>
        </p:grpSpPr>
        <p:cxnSp>
          <p:nvCxnSpPr>
            <p:cNvPr id="125" name="Connector 9">
              <a:extLst>
                <a:ext uri="{FF2B5EF4-FFF2-40B4-BE49-F238E27FC236}">
                  <a16:creationId xmlns:a16="http://schemas.microsoft.com/office/drawing/2014/main" id="{E9EE4518-8519-210C-49C1-4E4BA344DD91}"/>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26" name="Connector 10">
              <a:extLst>
                <a:ext uri="{FF2B5EF4-FFF2-40B4-BE49-F238E27FC236}">
                  <a16:creationId xmlns:a16="http://schemas.microsoft.com/office/drawing/2014/main" id="{D431718C-837E-22B9-768A-270F3C18A688}"/>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27" name="Группа 126">
            <a:extLst>
              <a:ext uri="{FF2B5EF4-FFF2-40B4-BE49-F238E27FC236}">
                <a16:creationId xmlns:a16="http://schemas.microsoft.com/office/drawing/2014/main" id="{2DAA9101-D6B7-16A9-C02B-10FEC6BC53EF}"/>
              </a:ext>
            </a:extLst>
          </p:cNvPr>
          <p:cNvGrpSpPr/>
          <p:nvPr/>
        </p:nvGrpSpPr>
        <p:grpSpPr>
          <a:xfrm>
            <a:off x="420730" y="3821683"/>
            <a:ext cx="137160" cy="137160"/>
            <a:chOff x="417682" y="1432051"/>
            <a:chExt cx="137160" cy="137160"/>
          </a:xfrm>
        </p:grpSpPr>
        <p:cxnSp>
          <p:nvCxnSpPr>
            <p:cNvPr id="128" name="Connector 9">
              <a:extLst>
                <a:ext uri="{FF2B5EF4-FFF2-40B4-BE49-F238E27FC236}">
                  <a16:creationId xmlns:a16="http://schemas.microsoft.com/office/drawing/2014/main" id="{38DD513A-44B0-E225-5579-24285C63728E}"/>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29" name="Connector 10">
              <a:extLst>
                <a:ext uri="{FF2B5EF4-FFF2-40B4-BE49-F238E27FC236}">
                  <a16:creationId xmlns:a16="http://schemas.microsoft.com/office/drawing/2014/main" id="{3FBBAA28-8C12-EDD2-C783-982348705DF4}"/>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30" name="Группа 129">
            <a:extLst>
              <a:ext uri="{FF2B5EF4-FFF2-40B4-BE49-F238E27FC236}">
                <a16:creationId xmlns:a16="http://schemas.microsoft.com/office/drawing/2014/main" id="{749FAB86-7331-70DE-83A4-2D054E1ADE39}"/>
              </a:ext>
            </a:extLst>
          </p:cNvPr>
          <p:cNvGrpSpPr/>
          <p:nvPr/>
        </p:nvGrpSpPr>
        <p:grpSpPr>
          <a:xfrm>
            <a:off x="408538" y="5016499"/>
            <a:ext cx="137160" cy="137160"/>
            <a:chOff x="417682" y="1432051"/>
            <a:chExt cx="137160" cy="137160"/>
          </a:xfrm>
        </p:grpSpPr>
        <p:cxnSp>
          <p:nvCxnSpPr>
            <p:cNvPr id="131" name="Connector 9">
              <a:extLst>
                <a:ext uri="{FF2B5EF4-FFF2-40B4-BE49-F238E27FC236}">
                  <a16:creationId xmlns:a16="http://schemas.microsoft.com/office/drawing/2014/main" id="{186690EF-A915-F971-3854-BF50FBC31B19}"/>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32" name="Connector 10">
              <a:extLst>
                <a:ext uri="{FF2B5EF4-FFF2-40B4-BE49-F238E27FC236}">
                  <a16:creationId xmlns:a16="http://schemas.microsoft.com/office/drawing/2014/main" id="{173FDB69-D437-30E1-0887-322C00FD0150}"/>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33" name="Группа 132">
            <a:extLst>
              <a:ext uri="{FF2B5EF4-FFF2-40B4-BE49-F238E27FC236}">
                <a16:creationId xmlns:a16="http://schemas.microsoft.com/office/drawing/2014/main" id="{532812BF-79E5-99A0-DA4F-12C5B37BE5B1}"/>
              </a:ext>
            </a:extLst>
          </p:cNvPr>
          <p:cNvGrpSpPr/>
          <p:nvPr/>
        </p:nvGrpSpPr>
        <p:grpSpPr>
          <a:xfrm>
            <a:off x="6257650" y="5013451"/>
            <a:ext cx="137160" cy="137160"/>
            <a:chOff x="417682" y="1432051"/>
            <a:chExt cx="137160" cy="137160"/>
          </a:xfrm>
        </p:grpSpPr>
        <p:cxnSp>
          <p:nvCxnSpPr>
            <p:cNvPr id="134" name="Connector 9">
              <a:extLst>
                <a:ext uri="{FF2B5EF4-FFF2-40B4-BE49-F238E27FC236}">
                  <a16:creationId xmlns:a16="http://schemas.microsoft.com/office/drawing/2014/main" id="{216A4E78-5FD0-D170-909F-5253580A1028}"/>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35" name="Connector 10">
              <a:extLst>
                <a:ext uri="{FF2B5EF4-FFF2-40B4-BE49-F238E27FC236}">
                  <a16:creationId xmlns:a16="http://schemas.microsoft.com/office/drawing/2014/main" id="{16D2134C-D34D-1A6A-40EA-41336AF7DD54}"/>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36" name="Группа 135">
            <a:extLst>
              <a:ext uri="{FF2B5EF4-FFF2-40B4-BE49-F238E27FC236}">
                <a16:creationId xmlns:a16="http://schemas.microsoft.com/office/drawing/2014/main" id="{56EC8FDA-14B0-7AF0-3597-F0ABAAF3B2F6}"/>
              </a:ext>
            </a:extLst>
          </p:cNvPr>
          <p:cNvGrpSpPr/>
          <p:nvPr/>
        </p:nvGrpSpPr>
        <p:grpSpPr>
          <a:xfrm>
            <a:off x="6245458" y="3849115"/>
            <a:ext cx="137160" cy="137160"/>
            <a:chOff x="417682" y="1432051"/>
            <a:chExt cx="137160" cy="137160"/>
          </a:xfrm>
        </p:grpSpPr>
        <p:cxnSp>
          <p:nvCxnSpPr>
            <p:cNvPr id="137" name="Connector 9">
              <a:extLst>
                <a:ext uri="{FF2B5EF4-FFF2-40B4-BE49-F238E27FC236}">
                  <a16:creationId xmlns:a16="http://schemas.microsoft.com/office/drawing/2014/main" id="{6DD13C9D-77F3-4C76-FD97-BCF231253B40}"/>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38" name="Connector 10">
              <a:extLst>
                <a:ext uri="{FF2B5EF4-FFF2-40B4-BE49-F238E27FC236}">
                  <a16:creationId xmlns:a16="http://schemas.microsoft.com/office/drawing/2014/main" id="{3824E073-6FC1-CA01-A962-CBAEA7333B2F}"/>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39" name="Группа 138">
            <a:extLst>
              <a:ext uri="{FF2B5EF4-FFF2-40B4-BE49-F238E27FC236}">
                <a16:creationId xmlns:a16="http://schemas.microsoft.com/office/drawing/2014/main" id="{8439422B-9131-791E-45F9-BFF261B76B7D}"/>
              </a:ext>
            </a:extLst>
          </p:cNvPr>
          <p:cNvGrpSpPr/>
          <p:nvPr/>
        </p:nvGrpSpPr>
        <p:grpSpPr>
          <a:xfrm>
            <a:off x="6233266" y="2620771"/>
            <a:ext cx="137160" cy="137160"/>
            <a:chOff x="417682" y="1432051"/>
            <a:chExt cx="137160" cy="137160"/>
          </a:xfrm>
        </p:grpSpPr>
        <p:cxnSp>
          <p:nvCxnSpPr>
            <p:cNvPr id="140" name="Connector 9">
              <a:extLst>
                <a:ext uri="{FF2B5EF4-FFF2-40B4-BE49-F238E27FC236}">
                  <a16:creationId xmlns:a16="http://schemas.microsoft.com/office/drawing/2014/main" id="{644252B8-259C-4D45-DF15-37629F1EAAC0}"/>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41" name="Connector 10">
              <a:extLst>
                <a:ext uri="{FF2B5EF4-FFF2-40B4-BE49-F238E27FC236}">
                  <a16:creationId xmlns:a16="http://schemas.microsoft.com/office/drawing/2014/main" id="{C5B345A4-8EEB-C646-E18B-B987A720A19B}"/>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grpSp>
        <p:nvGrpSpPr>
          <p:cNvPr id="142" name="Группа 141">
            <a:extLst>
              <a:ext uri="{FF2B5EF4-FFF2-40B4-BE49-F238E27FC236}">
                <a16:creationId xmlns:a16="http://schemas.microsoft.com/office/drawing/2014/main" id="{EA609773-3654-DDEA-11C7-58CFDE61592B}"/>
              </a:ext>
            </a:extLst>
          </p:cNvPr>
          <p:cNvGrpSpPr/>
          <p:nvPr/>
        </p:nvGrpSpPr>
        <p:grpSpPr>
          <a:xfrm>
            <a:off x="6248506" y="1447291"/>
            <a:ext cx="137160" cy="137160"/>
            <a:chOff x="417682" y="1432051"/>
            <a:chExt cx="137160" cy="137160"/>
          </a:xfrm>
        </p:grpSpPr>
        <p:cxnSp>
          <p:nvCxnSpPr>
            <p:cNvPr id="143" name="Connector 9">
              <a:extLst>
                <a:ext uri="{FF2B5EF4-FFF2-40B4-BE49-F238E27FC236}">
                  <a16:creationId xmlns:a16="http://schemas.microsoft.com/office/drawing/2014/main" id="{BC7AAB5C-EF8C-AA2A-7971-189E89D75576}"/>
                </a:ext>
              </a:extLst>
            </p:cNvPr>
            <p:cNvCxnSpPr/>
            <p:nvPr/>
          </p:nvCxnSpPr>
          <p:spPr>
            <a:xfrm>
              <a:off x="417682" y="1432051"/>
              <a:ext cx="137160" cy="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cxnSp>
          <p:nvCxnSpPr>
            <p:cNvPr id="144" name="Connector 10">
              <a:extLst>
                <a:ext uri="{FF2B5EF4-FFF2-40B4-BE49-F238E27FC236}">
                  <a16:creationId xmlns:a16="http://schemas.microsoft.com/office/drawing/2014/main" id="{8453FC81-840A-12B3-38AC-435305FFE113}"/>
                </a:ext>
              </a:extLst>
            </p:cNvPr>
            <p:cNvCxnSpPr/>
            <p:nvPr/>
          </p:nvCxnSpPr>
          <p:spPr>
            <a:xfrm>
              <a:off x="417682" y="1432051"/>
              <a:ext cx="0" cy="137160"/>
            </a:xfrm>
            <a:prstGeom prst="line">
              <a:avLst/>
            </a:prstGeom>
            <a:ln w="19050">
              <a:solidFill>
                <a:srgbClr val="B06A00"/>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507417" y="1417320"/>
            <a:ext cx="1177165" cy="1300000"/>
          </a:xfrm>
          <a:prstGeom prst="rect">
            <a:avLst/>
          </a:prstGeom>
        </p:spPr>
      </p:pic>
      <p:cxnSp>
        <p:nvCxnSpPr>
          <p:cNvPr id="4" name="Connector 3"/>
          <p:cNvCxnSpPr/>
          <p:nvPr/>
        </p:nvCxnSpPr>
        <p:spPr>
          <a:xfrm>
            <a:off x="3246120" y="2880360"/>
            <a:ext cx="292607"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3246120" y="2880360"/>
            <a:ext cx="0" cy="292607"/>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650225" y="2880360"/>
            <a:ext cx="292607"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8942832" y="2880360"/>
            <a:ext cx="0" cy="292607"/>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246120" y="4297680"/>
            <a:ext cx="292607"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246120" y="4005073"/>
            <a:ext cx="0" cy="292607"/>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650225" y="4297680"/>
            <a:ext cx="292607" cy="0"/>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942832" y="4005073"/>
            <a:ext cx="0" cy="292607"/>
          </a:xfrm>
          <a:prstGeom prst="line">
            <a:avLst/>
          </a:prstGeom>
          <a:ln w="22225">
            <a:solidFill>
              <a:srgbClr val="F392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74720" y="3615538"/>
            <a:ext cx="5239512" cy="348813"/>
          </a:xfrm>
          <a:prstGeom prst="rect">
            <a:avLst/>
          </a:prstGeom>
          <a:noFill/>
        </p:spPr>
        <p:txBody>
          <a:bodyPr wrap="square" lIns="0" tIns="0" rIns="0" bIns="0" anchor="ctr">
            <a:spAutoFit/>
          </a:bodyPr>
          <a:lstStyle/>
          <a:p>
            <a:pPr algn="ctr">
              <a:lnSpc>
                <a:spcPct val="120000"/>
              </a:lnSpc>
            </a:pPr>
            <a:r>
              <a:rPr lang="uk-UA" sz="2000" spc="250" dirty="0">
                <a:solidFill>
                  <a:srgbClr val="F39200"/>
                </a:solidFill>
                <a:latin typeface="UAF Sans" pitchFamily="2" charset="-52"/>
                <a:ea typeface="UAF Sans" pitchFamily="2" charset="-52"/>
              </a:rPr>
              <a:t>Дякую за увагу</a:t>
            </a:r>
          </a:p>
        </p:txBody>
      </p:sp>
      <p:sp>
        <p:nvSpPr>
          <p:cNvPr id="13" name="TextBox 12"/>
          <p:cNvSpPr txBox="1"/>
          <p:nvPr/>
        </p:nvSpPr>
        <p:spPr>
          <a:xfrm>
            <a:off x="3474720" y="3063683"/>
            <a:ext cx="5239512" cy="347852"/>
          </a:xfrm>
          <a:prstGeom prst="rect">
            <a:avLst/>
          </a:prstGeom>
          <a:noFill/>
        </p:spPr>
        <p:txBody>
          <a:bodyPr wrap="square" lIns="0" tIns="0" rIns="0" bIns="0" anchor="ctr">
            <a:spAutoFit/>
          </a:bodyPr>
          <a:lstStyle/>
          <a:p>
            <a:pPr algn="ctr">
              <a:lnSpc>
                <a:spcPct val="120000"/>
              </a:lnSpc>
            </a:pPr>
            <a:r>
              <a:rPr lang="uk-UA" sz="2000" b="1" spc="200" dirty="0">
                <a:solidFill>
                  <a:srgbClr val="F7F5F0"/>
                </a:solidFill>
                <a:latin typeface="UAF Sans"/>
              </a:rPr>
              <a:t>Слава Україні!</a:t>
            </a:r>
            <a:endParaRPr lang="uk-UA" sz="2000" b="0" spc="250" noProof="0" dirty="0">
              <a:solidFill>
                <a:srgbClr val="F39200"/>
              </a:solidFill>
              <a:latin typeface="UAF Sans SemiBold"/>
            </a:endParaRPr>
          </a:p>
        </p:txBody>
      </p:sp>
      <p:sp>
        <p:nvSpPr>
          <p:cNvPr id="14" name="TextBox 13"/>
          <p:cNvSpPr txBox="1"/>
          <p:nvPr/>
        </p:nvSpPr>
        <p:spPr>
          <a:xfrm>
            <a:off x="8119872" y="6455664"/>
            <a:ext cx="3657600" cy="256032"/>
          </a:xfrm>
          <a:prstGeom prst="rect">
            <a:avLst/>
          </a:prstGeom>
          <a:noFill/>
        </p:spPr>
        <p:txBody>
          <a:bodyPr wrap="square" lIns="0" tIns="0" rIns="0" bIns="0" anchor="ctr">
            <a:spAutoFit/>
          </a:bodyPr>
          <a:lstStyle/>
          <a:p>
            <a:pPr algn="r">
              <a:lnSpc>
                <a:spcPct val="120000"/>
              </a:lnSpc>
            </a:pPr>
            <a:r>
              <a:rPr lang="uk-UA" sz="950" b="0" i="0" spc="300" noProof="0" dirty="0">
                <a:solidFill>
                  <a:srgbClr val="A8A08A"/>
                </a:solidFill>
                <a:latin typeface="UAF Sans"/>
              </a:rPr>
              <a:t>ДЛЯ СЛУЖБОВОГО КОРИСТУВАННЯ</a:t>
            </a:r>
          </a:p>
        </p:txBody>
      </p:sp>
      <p:pic>
        <p:nvPicPr>
          <p:cNvPr id="17" name="Рисунок 3">
            <a:extLst>
              <a:ext uri="{FF2B5EF4-FFF2-40B4-BE49-F238E27FC236}">
                <a16:creationId xmlns:a16="http://schemas.microsoft.com/office/drawing/2014/main" id="{57E63D09-2555-54A1-56C0-51CBA78AF6AC}"/>
              </a:ext>
            </a:extLst>
          </p:cNvPr>
          <p:cNvPicPr>
            <a:picLocks noChangeAspect="1" noChangeArrowheads="1"/>
          </p:cNvPicPr>
          <p:nvPr/>
        </p:nvPicPr>
        <p:blipFill>
          <a:blip r:embed="rId4"/>
          <a:srcRect/>
          <a:stretch>
            <a:fillRect/>
          </a:stretch>
        </p:blipFill>
        <p:spPr bwMode="auto">
          <a:xfrm>
            <a:off x="5929122" y="5065776"/>
            <a:ext cx="495300" cy="534987"/>
          </a:xfrm>
          <a:prstGeom prst="rect">
            <a:avLst/>
          </a:prstGeom>
          <a:noFill/>
          <a:ln>
            <a:noFill/>
          </a:ln>
          <a:effectLst>
            <a:glow rad="101600">
              <a:schemeClr val="accent6">
                <a:satMod val="175000"/>
                <a:alpha val="40000"/>
              </a:schemeClr>
            </a:glow>
          </a:effectLst>
        </p:spPr>
      </p:pic>
      <p:sp>
        <p:nvSpPr>
          <p:cNvPr id="19" name="TextBox 18">
            <a:extLst>
              <a:ext uri="{FF2B5EF4-FFF2-40B4-BE49-F238E27FC236}">
                <a16:creationId xmlns:a16="http://schemas.microsoft.com/office/drawing/2014/main" id="{34066EA1-C287-4514-DC0B-1E5EE2B4AAEE}"/>
              </a:ext>
            </a:extLst>
          </p:cNvPr>
          <p:cNvSpPr txBox="1"/>
          <p:nvPr/>
        </p:nvSpPr>
        <p:spPr>
          <a:xfrm>
            <a:off x="4269876" y="5686066"/>
            <a:ext cx="3813791" cy="523220"/>
          </a:xfrm>
          <a:prstGeom prst="rect">
            <a:avLst/>
          </a:prstGeom>
          <a:noFill/>
        </p:spPr>
        <p:txBody>
          <a:bodyPr wrap="square" rtlCol="0">
            <a:spAutoFit/>
          </a:bodyPr>
          <a:lstStyle/>
          <a:p>
            <a:pPr algn="ctr"/>
            <a:r>
              <a:rPr lang="uk-UA" sz="1400" b="1" spc="200" dirty="0">
                <a:solidFill>
                  <a:srgbClr val="F7F5F0"/>
                </a:solidFill>
                <a:latin typeface="UAF Sans"/>
              </a:rPr>
              <a:t>Угруповання військ (сил)</a:t>
            </a:r>
            <a:br>
              <a:rPr lang="uk-UA" sz="1400" b="1" spc="200" dirty="0">
                <a:solidFill>
                  <a:srgbClr val="F7F5F0"/>
                </a:solidFill>
                <a:latin typeface="UAF Sans"/>
              </a:rPr>
            </a:br>
            <a:r>
              <a:rPr lang="en-US" sz="1400" b="1" spc="200" dirty="0">
                <a:solidFill>
                  <a:srgbClr val="F7F5F0"/>
                </a:solidFill>
                <a:latin typeface="UAF Sans"/>
              </a:rPr>
              <a:t>“</a:t>
            </a:r>
            <a:r>
              <a:rPr lang="uk-UA" sz="1400" b="1" spc="200" dirty="0">
                <a:solidFill>
                  <a:srgbClr val="F7F5F0"/>
                </a:solidFill>
                <a:latin typeface="UAF Sans"/>
              </a:rPr>
              <a:t>Південь</a:t>
            </a:r>
            <a:r>
              <a:rPr lang="en-US" sz="1400" b="1" spc="200" dirty="0">
                <a:solidFill>
                  <a:srgbClr val="F7F5F0"/>
                </a:solidFill>
                <a:latin typeface="UAF Sans"/>
              </a:rPr>
              <a:t>”</a:t>
            </a:r>
            <a:endParaRPr lang="uk-UA" sz="1400" b="1" spc="200" dirty="0">
              <a:solidFill>
                <a:srgbClr val="F7F5F0"/>
              </a:solidFill>
              <a:latin typeface="UAF Sans"/>
            </a:endParaRPr>
          </a:p>
        </p:txBody>
      </p:sp>
      <p:sp>
        <p:nvSpPr>
          <p:cNvPr id="21" name="Rectangle 5">
            <a:extLst>
              <a:ext uri="{FF2B5EF4-FFF2-40B4-BE49-F238E27FC236}">
                <a16:creationId xmlns:a16="http://schemas.microsoft.com/office/drawing/2014/main" id="{1DB01142-7400-E7E0-5AEA-3720FDB05707}"/>
              </a:ext>
            </a:extLst>
          </p:cNvPr>
          <p:cNvSpPr>
            <a:spLocks noChangeArrowheads="1"/>
          </p:cNvSpPr>
          <p:nvPr/>
        </p:nvSpPr>
        <p:spPr bwMode="auto">
          <a:xfrm>
            <a:off x="2152458" y="600784"/>
            <a:ext cx="8048625" cy="316968"/>
          </a:xfrm>
          <a:prstGeom prst="rect">
            <a:avLst/>
          </a:prstGeom>
          <a:noFill/>
          <a:ln w="9525">
            <a:noFill/>
            <a:miter lim="800000"/>
            <a:headEnd/>
            <a:tailEnd/>
          </a:ln>
        </p:spPr>
        <p:txBody>
          <a:bodyPr lIns="76016" tIns="38010" rIns="76016" bIns="38010" anchor="ctr"/>
          <a:lstStyle/>
          <a:p>
            <a:pPr algn="ctr">
              <a:lnSpc>
                <a:spcPct val="80000"/>
              </a:lnSpc>
              <a:spcBef>
                <a:spcPct val="50000"/>
              </a:spcBef>
              <a:spcAft>
                <a:spcPct val="60000"/>
              </a:spcAft>
            </a:pPr>
            <a:r>
              <a:rPr lang="uk-UA" altLang="uk-UA" sz="2000" dirty="0">
                <a:solidFill>
                  <a:srgbClr val="FFFFFF"/>
                </a:solidFill>
                <a:latin typeface="UAF Sans" pitchFamily="2" charset="-52"/>
                <a:ea typeface="UAF Sans" pitchFamily="2" charset="-52"/>
              </a:rPr>
              <a:t>УГРУПОВАННЯ ВІЙСЬК (СИЛ) “ПІВДЕНЬ”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295</TotalTime>
  <Words>1360</Words>
  <Application>Microsoft Office PowerPoint</Application>
  <PresentationFormat>Широкоэкранный</PresentationFormat>
  <Paragraphs>165</Paragraphs>
  <Slides>13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13</vt:i4>
      </vt:variant>
    </vt:vector>
  </HeadingPairs>
  <TitlesOfParts>
    <vt:vector size="18" baseType="lpstr">
      <vt:lpstr>Arial</vt:lpstr>
      <vt:lpstr>Calibri</vt:lpstr>
      <vt:lpstr>UAF Sans</vt:lpstr>
      <vt:lpstr>UAF Sans SemiBold</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eremit</dc:creator>
  <cp:keywords/>
  <dc:description>generated using python-pptx</dc:description>
  <cp:lastModifiedBy>eremit</cp:lastModifiedBy>
  <cp:revision>64</cp:revision>
  <dcterms:created xsi:type="dcterms:W3CDTF">2013-01-27T09:14:16Z</dcterms:created>
  <dcterms:modified xsi:type="dcterms:W3CDTF">2026-09-27T07:02:33Z</dcterms:modified>
  <cp:category/>
</cp:coreProperties>
</file>